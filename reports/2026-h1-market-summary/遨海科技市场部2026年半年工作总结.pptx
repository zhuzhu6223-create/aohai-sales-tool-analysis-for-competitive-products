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有效线索数</c:v>
                </c:pt>
              </c:strCache>
            </c:strRef>
          </c:tx>
          <c:spPr>
            <a:solidFill>
              <a:srgbClr val="3A506B"/>
            </a:solidFill>
          </c:spPr>
          <c:cat>
            <c:strRef>
              <c:f>Sheet1!$A$2:$A$7</c:f>
              <c:strCache>
                <c:ptCount val="6"/>
                <c:pt idx="0">
                  <c:v>公司领导或总经办转入</c:v>
                </c:pt>
                <c:pt idx="1">
                  <c:v>市场部主动开发</c:v>
                </c:pt>
                <c:pt idx="2">
                  <c:v>既有客户或销售转入</c:v>
                </c:pt>
                <c:pt idx="3">
                  <c:v>合作伙伴或上下游企业</c:v>
                </c:pt>
                <c:pt idx="4">
                  <c:v>政策、协会或政府渠道</c:v>
                </c:pt>
                <c:pt idx="5">
                  <c:v>招投标公开信息转化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1E2A38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FD9CB"/>
            </a:solidFill>
          </a:ln>
        </c:spPr>
        <c:txPr>
          <a:bodyPr/>
          <a:lstStyle/>
          <a:p>
            <a:pPr>
              <a:defRPr sz="95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12064" y="4892040"/>
            <a:ext cx="3291840" cy="0"/>
          </a:xfrm>
          <a:prstGeom prst="line">
            <a:avLst/>
          </a:prstGeom>
          <a:ln w="17780">
            <a:solidFill>
              <a:srgbClr val="DE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12064" y="5038344"/>
            <a:ext cx="3090672" cy="0"/>
          </a:xfrm>
          <a:prstGeom prst="line">
            <a:avLst/>
          </a:prstGeom>
          <a:ln w="17780">
            <a:solidFill>
              <a:srgbClr val="DE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12064" y="5184648"/>
            <a:ext cx="2889504" cy="0"/>
          </a:xfrm>
          <a:prstGeom prst="line">
            <a:avLst/>
          </a:prstGeom>
          <a:ln w="17780">
            <a:solidFill>
              <a:srgbClr val="DE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12064" y="5330952"/>
            <a:ext cx="2688336" cy="0"/>
          </a:xfrm>
          <a:prstGeom prst="line">
            <a:avLst/>
          </a:prstGeom>
          <a:ln w="17780">
            <a:solidFill>
              <a:srgbClr val="DE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12064" y="5477256"/>
            <a:ext cx="2487168" cy="0"/>
          </a:xfrm>
          <a:prstGeom prst="line">
            <a:avLst/>
          </a:prstGeom>
          <a:ln w="17780">
            <a:solidFill>
              <a:srgbClr val="DE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12064" y="4745736"/>
            <a:ext cx="3291840" cy="0"/>
          </a:xfrm>
          <a:prstGeom prst="line">
            <a:avLst/>
          </a:prstGeom>
          <a:ln w="20320">
            <a:solidFill>
              <a:srgbClr val="3A50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863840" y="4023360"/>
            <a:ext cx="6766560" cy="6766560"/>
          </a:xfrm>
          <a:prstGeom prst="ellipse">
            <a:avLst/>
          </a:prstGeom>
          <a:noFill/>
          <a:ln w="17780">
            <a:solidFill>
              <a:srgbClr val="3A5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60920" y="3520440"/>
            <a:ext cx="7772400" cy="7772400"/>
          </a:xfrm>
          <a:prstGeom prst="ellipse">
            <a:avLst/>
          </a:prstGeom>
          <a:noFill/>
          <a:ln w="12700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35852" y="5417820"/>
            <a:ext cx="91440" cy="91440"/>
          </a:xfrm>
          <a:prstGeom prst="ellipse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08816" y="4298552"/>
            <a:ext cx="91440" cy="91440"/>
          </a:xfrm>
          <a:prstGeom prst="ellipse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00498" y="3664924"/>
            <a:ext cx="91440" cy="91440"/>
          </a:xfrm>
          <a:prstGeom prst="ellipse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1488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546070"/>
                </a:solidFill>
                <a:latin typeface="微软雅黑"/>
              </a:rPr>
              <a:t>遨海科技市场部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606040"/>
            <a:ext cx="8961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3A506B"/>
                </a:solidFill>
                <a:latin typeface="微软雅黑"/>
              </a:rPr>
              <a:t>2026 年半年工作总结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2064" y="3703320"/>
            <a:ext cx="1005840" cy="0"/>
          </a:xfrm>
          <a:prstGeom prst="line">
            <a:avLst/>
          </a:prstGeom>
          <a:ln w="27940">
            <a:solidFill>
              <a:srgbClr val="C97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2064" y="38404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46070"/>
                </a:solidFill>
                <a:latin typeface="微软雅黑"/>
              </a:rPr>
              <a:t>从流程建立到 MTL 精细化运营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6172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78F98"/>
                </a:solidFill>
                <a:latin typeface="Consolas"/>
              </a:rPr>
              <a:t>市场部｜2026 年 7 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08031" y="384048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46070"/>
                </a:solidFill>
                <a:latin typeface="微软雅黑"/>
              </a:rPr>
              <a:t>遨海科技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8F98"/>
                </a:solidFill>
                <a:latin typeface="Consolas"/>
              </a:rPr>
              <a:t>02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308031" y="274320"/>
            <a:ext cx="1371600" cy="292608"/>
          </a:xfrm>
          <a:prstGeom prst="rect">
            <a:avLst/>
          </a:prstGeom>
          <a:noFill/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08031" y="274320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46070"/>
                </a:solidFill>
                <a:latin typeface="微软雅黑"/>
              </a:rPr>
              <a:t>遨海科技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21792"/>
            <a:ext cx="11167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2A38"/>
                </a:solidFill>
                <a:latin typeface="微软雅黑"/>
              </a:rPr>
              <a:t>公司进入“航海基本盘 + 航天突破”并行发展的新阶段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179576"/>
            <a:ext cx="11167567" cy="457200"/>
          </a:xfrm>
          <a:prstGeom prst="rect">
            <a:avLst/>
          </a:prstGeom>
          <a:solidFill>
            <a:srgbClr val="DE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1179576"/>
            <a:ext cx="45720" cy="457200"/>
          </a:xfrm>
          <a:prstGeom prst="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79576"/>
            <a:ext cx="108475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73649"/>
                </a:solidFill>
                <a:latin typeface="微软雅黑"/>
              </a:rPr>
              <a:t>新的技术突破和业务空间，需要一个能够持续识别机会、组织资源、沉淀资产并推动协同的经营前端。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2064" y="5285232"/>
            <a:ext cx="11167567" cy="0"/>
          </a:xfrm>
          <a:prstGeom prst="line">
            <a:avLst/>
          </a:prstGeom>
          <a:ln w="12700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2064" y="1783080"/>
            <a:ext cx="3551834" cy="324612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1783080"/>
            <a:ext cx="3551834" cy="54864"/>
          </a:xfrm>
          <a:prstGeom prst="rect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" y="1993392"/>
            <a:ext cx="347472" cy="347472"/>
          </a:xfrm>
          <a:prstGeom prst="ellipse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933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5F0"/>
                </a:solidFill>
                <a:latin typeface="Consol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002536"/>
            <a:ext cx="28203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E2A38"/>
                </a:solidFill>
                <a:latin typeface="微软雅黑"/>
              </a:rPr>
              <a:t>航海基本盘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606040"/>
            <a:ext cx="3003194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5B9E9A"/>
                </a:solidFill>
                <a:latin typeface="微软雅黑"/>
              </a:rPr>
              <a:t>— </a:t>
            </a:r>
            <a:r>
              <a:rPr sz="1150" b="0" i="0">
                <a:solidFill>
                  <a:srgbClr val="1E2A38"/>
                </a:solidFill>
                <a:latin typeface="微软雅黑"/>
              </a:rPr>
              <a:t>客户、区域项目、行业需求和政策窗口持续出现。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5B9E9A"/>
                </a:solidFill>
                <a:latin typeface="微软雅黑"/>
              </a:rPr>
              <a:t>— </a:t>
            </a:r>
            <a:r>
              <a:rPr sz="1150" b="0" i="0">
                <a:solidFill>
                  <a:srgbClr val="1E2A38"/>
                </a:solidFill>
                <a:latin typeface="微软雅黑"/>
              </a:rPr>
              <a:t>方案、资质、案例和客户信息需要持续复用。</a:t>
            </a:r>
          </a:p>
        </p:txBody>
      </p:sp>
      <p:sp>
        <p:nvSpPr>
          <p:cNvPr id="16" name="Oval 15"/>
          <p:cNvSpPr/>
          <p:nvPr/>
        </p:nvSpPr>
        <p:spPr>
          <a:xfrm>
            <a:off x="2223973" y="5221224"/>
            <a:ext cx="128016" cy="128016"/>
          </a:xfrm>
          <a:prstGeom prst="ellipse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19930" y="1783080"/>
            <a:ext cx="3551834" cy="324612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9930" y="1783080"/>
            <a:ext cx="3551834" cy="54864"/>
          </a:xfrm>
          <a:prstGeom prst="rect">
            <a:avLst/>
          </a:prstGeom>
          <a:solidFill>
            <a:srgbClr val="C97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75378" y="1993392"/>
            <a:ext cx="347472" cy="347472"/>
          </a:xfrm>
          <a:prstGeom prst="ellipse">
            <a:avLst/>
          </a:prstGeom>
          <a:solidFill>
            <a:srgbClr val="C97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5378" y="19933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5F0"/>
                </a:solidFill>
                <a:latin typeface="Consola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6858" y="2002536"/>
            <a:ext cx="28203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E2A38"/>
                </a:solidFill>
                <a:latin typeface="微软雅黑"/>
              </a:rPr>
              <a:t>航天新突破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4250" y="2606040"/>
            <a:ext cx="3003194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C97B47"/>
                </a:solidFill>
                <a:latin typeface="微软雅黑"/>
              </a:rPr>
              <a:t>— </a:t>
            </a:r>
            <a:r>
              <a:rPr sz="1150" b="1" i="0">
                <a:solidFill>
                  <a:srgbClr val="1E2A38"/>
                </a:solidFill>
                <a:latin typeface="微软雅黑"/>
              </a:rPr>
              <a:t>VDES 卫星载荷完成在轨测试，</a:t>
            </a:r>
            <a:r>
              <a:rPr sz="1150" b="0" i="0">
                <a:solidFill>
                  <a:srgbClr val="1E2A38"/>
                </a:solidFill>
                <a:latin typeface="微软雅黑"/>
              </a:rPr>
              <a:t>验证效果达到预期。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C97B47"/>
                </a:solidFill>
                <a:latin typeface="微软雅黑"/>
              </a:rPr>
              <a:t>— </a:t>
            </a:r>
            <a:r>
              <a:rPr sz="1150" b="1" i="0">
                <a:solidFill>
                  <a:srgbClr val="1E2A38"/>
                </a:solidFill>
                <a:latin typeface="微软雅黑"/>
              </a:rPr>
              <a:t>相关特种领域项目取得实质性突破。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C97B47"/>
                </a:solidFill>
                <a:latin typeface="微软雅黑"/>
              </a:rPr>
              <a:t>— </a:t>
            </a:r>
            <a:r>
              <a:rPr sz="1150" b="1" i="0">
                <a:solidFill>
                  <a:srgbClr val="1E2A38"/>
                </a:solidFill>
                <a:latin typeface="微软雅黑"/>
              </a:rPr>
              <a:t>管理层进一步明确航天领域的发展方向。</a:t>
            </a:r>
          </a:p>
        </p:txBody>
      </p:sp>
      <p:sp>
        <p:nvSpPr>
          <p:cNvPr id="23" name="Oval 22"/>
          <p:cNvSpPr/>
          <p:nvPr/>
        </p:nvSpPr>
        <p:spPr>
          <a:xfrm>
            <a:off x="6031840" y="5221224"/>
            <a:ext cx="128016" cy="128016"/>
          </a:xfrm>
          <a:prstGeom prst="ellipse">
            <a:avLst/>
          </a:prstGeom>
          <a:solidFill>
            <a:srgbClr val="C97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27797" y="1783080"/>
            <a:ext cx="3551834" cy="324612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27797" y="1783080"/>
            <a:ext cx="3551834" cy="54864"/>
          </a:xfrm>
          <a:prstGeom prst="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83245" y="1993392"/>
            <a:ext cx="347472" cy="347472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3245" y="19933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5F0"/>
                </a:solidFill>
                <a:latin typeface="Consola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94725" y="2002536"/>
            <a:ext cx="28203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E2A38"/>
                </a:solidFill>
                <a:latin typeface="微软雅黑"/>
              </a:rPr>
              <a:t>市场部使命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2117" y="2606040"/>
            <a:ext cx="3003194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3A506B"/>
                </a:solidFill>
                <a:latin typeface="微软雅黑"/>
              </a:rPr>
              <a:t>— </a:t>
            </a:r>
            <a:r>
              <a:rPr sz="1150" b="0" i="0">
                <a:solidFill>
                  <a:srgbClr val="1E2A38"/>
                </a:solidFill>
                <a:latin typeface="微软雅黑"/>
              </a:rPr>
              <a:t>更早发现需求与项目窗口。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3A506B"/>
                </a:solidFill>
                <a:latin typeface="微软雅黑"/>
              </a:rPr>
              <a:t>— </a:t>
            </a:r>
            <a:r>
              <a:rPr sz="1150" b="0" i="0">
                <a:solidFill>
                  <a:srgbClr val="1E2A38"/>
                </a:solidFill>
                <a:latin typeface="微软雅黑"/>
              </a:rPr>
              <a:t>更快组织产品、方案和技术资源。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3A506B"/>
                </a:solidFill>
                <a:latin typeface="微软雅黑"/>
              </a:rPr>
              <a:t>— </a:t>
            </a:r>
            <a:r>
              <a:rPr sz="1150" b="0" i="0">
                <a:solidFill>
                  <a:srgbClr val="1E2A38"/>
                </a:solidFill>
                <a:latin typeface="微软雅黑"/>
              </a:rPr>
              <a:t>把单点突破转化为可持续的市场机会。</a:t>
            </a:r>
          </a:p>
        </p:txBody>
      </p:sp>
      <p:sp>
        <p:nvSpPr>
          <p:cNvPr id="30" name="Oval 29"/>
          <p:cNvSpPr/>
          <p:nvPr/>
        </p:nvSpPr>
        <p:spPr>
          <a:xfrm>
            <a:off x="9839706" y="5221224"/>
            <a:ext cx="128016" cy="128016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2064" y="5833872"/>
            <a:ext cx="11167567" cy="566928"/>
          </a:xfrm>
          <a:prstGeom prst="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833872"/>
            <a:ext cx="1065550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5F0"/>
                </a:solidFill>
                <a:latin typeface="微软雅黑"/>
              </a:rPr>
              <a:t>市场部不是材料制作部门，而是公司的经营前端和市场资产运营者。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12064" y="6528816"/>
            <a:ext cx="11167567" cy="0"/>
          </a:xfrm>
          <a:prstGeom prst="line">
            <a:avLst/>
          </a:prstGeom>
          <a:ln w="9525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12064" y="657453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遨海科技市场部 · 2026 年半年工作总结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82351" y="657453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8F98"/>
                </a:solidFill>
                <a:latin typeface="Consolas"/>
              </a:rPr>
              <a:t>03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308031" y="274320"/>
            <a:ext cx="1371600" cy="292608"/>
          </a:xfrm>
          <a:prstGeom prst="rect">
            <a:avLst/>
          </a:prstGeom>
          <a:noFill/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08031" y="274320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46070"/>
                </a:solidFill>
                <a:latin typeface="微软雅黑"/>
              </a:rPr>
              <a:t>遨海科技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21792"/>
            <a:ext cx="11167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2A38"/>
                </a:solidFill>
                <a:latin typeface="微软雅黑"/>
              </a:rPr>
              <a:t>市场部负责 MTL：把市场信息逐步培育为可移交的合格线索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179576"/>
            <a:ext cx="11167567" cy="457200"/>
          </a:xfrm>
          <a:prstGeom prst="rect">
            <a:avLst/>
          </a:prstGeom>
          <a:solidFill>
            <a:srgbClr val="DE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1179576"/>
            <a:ext cx="45720" cy="457200"/>
          </a:xfrm>
          <a:prstGeom prst="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79576"/>
            <a:ext cx="108475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73649"/>
                </a:solidFill>
                <a:latin typeface="微软雅黑"/>
              </a:rPr>
              <a:t>市场部负责信息归集、线索识别、持续培育和价值判断；线索移交后的机会推进、投标签约与回款由销售及相关部门承接。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1783080"/>
            <a:ext cx="1901952" cy="15544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" y="1920240"/>
            <a:ext cx="347472" cy="347472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92024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5F0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1965960"/>
            <a:ext cx="11704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A38"/>
                </a:solidFill>
                <a:latin typeface="微软雅黑"/>
              </a:rPr>
              <a:t>信息归集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86584"/>
            <a:ext cx="1463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6070"/>
                </a:solidFill>
                <a:latin typeface="微软雅黑"/>
              </a:rPr>
              <a:t>政策、客户、伙伴、标讯、行业信息统一入池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90088"/>
            <a:ext cx="1463040" cy="256032"/>
          </a:xfrm>
          <a:prstGeom prst="roundRect">
            <a:avLst/>
          </a:prstGeom>
          <a:solidFill>
            <a:srgbClr val="E1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90088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9E9A"/>
                </a:solidFill>
                <a:latin typeface="微软雅黑"/>
              </a:rPr>
              <a:t>可追溯信息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14016" y="2560320"/>
            <a:ext cx="146304" cy="0"/>
          </a:xfrm>
          <a:prstGeom prst="line">
            <a:avLst/>
          </a:prstGeom>
          <a:ln w="20320">
            <a:solidFill>
              <a:srgbClr val="3A50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560320" y="1783080"/>
            <a:ext cx="1901952" cy="15544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697480" y="1920240"/>
            <a:ext cx="347472" cy="347472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192024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5F0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1965960"/>
            <a:ext cx="11704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A38"/>
                </a:solidFill>
                <a:latin typeface="微软雅黑"/>
              </a:rPr>
              <a:t>线索识别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9776" y="2386584"/>
            <a:ext cx="1463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6070"/>
                </a:solidFill>
                <a:latin typeface="微软雅黑"/>
              </a:rPr>
              <a:t>判断客户、需求方向和适配性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79776" y="2990088"/>
            <a:ext cx="1463040" cy="256032"/>
          </a:xfrm>
          <a:prstGeom prst="roundRect">
            <a:avLst/>
          </a:prstGeom>
          <a:solidFill>
            <a:srgbClr val="E1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79776" y="2990088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9E9A"/>
                </a:solidFill>
                <a:latin typeface="微软雅黑"/>
              </a:rPr>
              <a:t>初步线索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62272" y="2560320"/>
            <a:ext cx="146304" cy="0"/>
          </a:xfrm>
          <a:prstGeom prst="line">
            <a:avLst/>
          </a:prstGeom>
          <a:ln w="20320">
            <a:solidFill>
              <a:srgbClr val="3A50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608576" y="1783080"/>
            <a:ext cx="1901952" cy="15544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45736" y="1920240"/>
            <a:ext cx="347472" cy="347472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45736" y="192024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5F0"/>
                </a:solidFill>
                <a:latin typeface="Consola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57216" y="1965960"/>
            <a:ext cx="11704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A38"/>
                </a:solidFill>
                <a:latin typeface="微软雅黑"/>
              </a:rPr>
              <a:t>线索培育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2" y="2386584"/>
            <a:ext cx="1463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6070"/>
                </a:solidFill>
                <a:latin typeface="微软雅黑"/>
              </a:rPr>
              <a:t>补充预算、范围、方案、时间窗和下一步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28032" y="2990088"/>
            <a:ext cx="1463040" cy="256032"/>
          </a:xfrm>
          <a:prstGeom prst="roundRect">
            <a:avLst/>
          </a:prstGeom>
          <a:solidFill>
            <a:srgbClr val="E1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28032" y="2990088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9E9A"/>
                </a:solidFill>
                <a:latin typeface="微软雅黑"/>
              </a:rPr>
              <a:t>培育线索／合格线索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10528" y="2560320"/>
            <a:ext cx="146304" cy="0"/>
          </a:xfrm>
          <a:prstGeom prst="line">
            <a:avLst/>
          </a:prstGeom>
          <a:ln w="20320">
            <a:solidFill>
              <a:srgbClr val="3A50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656832" y="1783080"/>
            <a:ext cx="1901952" cy="15544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93992" y="1920240"/>
            <a:ext cx="347472" cy="347472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93992" y="192024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5F0"/>
                </a:solidFill>
                <a:latin typeface="Consolas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5472" y="1965960"/>
            <a:ext cx="11704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A38"/>
                </a:solidFill>
                <a:latin typeface="微软雅黑"/>
              </a:rPr>
              <a:t>价值判断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76288" y="2386584"/>
            <a:ext cx="1463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6070"/>
                </a:solidFill>
                <a:latin typeface="微软雅黑"/>
              </a:rPr>
              <a:t>判断优先级、资源条件和移交建议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76288" y="2990088"/>
            <a:ext cx="1463040" cy="256032"/>
          </a:xfrm>
          <a:prstGeom prst="roundRect">
            <a:avLst/>
          </a:prstGeom>
          <a:solidFill>
            <a:srgbClr val="E1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76288" y="2990088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9E9A"/>
                </a:solidFill>
                <a:latin typeface="微软雅黑"/>
              </a:rPr>
              <a:t>重点机会／移交件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668512" y="1737360"/>
            <a:ext cx="0" cy="1645920"/>
          </a:xfrm>
          <a:prstGeom prst="line">
            <a:avLst/>
          </a:prstGeom>
          <a:ln w="15240">
            <a:solidFill>
              <a:srgbClr val="878F9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650224" y="1508760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MTL/LTC 工作界面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14816" y="2286000"/>
            <a:ext cx="621792" cy="548640"/>
          </a:xfrm>
          <a:prstGeom prst="roundRect">
            <a:avLst/>
          </a:prstGeom>
          <a:noFill/>
          <a:ln w="12700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14816" y="2286000"/>
            <a:ext cx="6217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8F98"/>
                </a:solidFill>
                <a:latin typeface="微软雅黑"/>
              </a:rPr>
              <a:t>机会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09760" y="2286000"/>
            <a:ext cx="621792" cy="548640"/>
          </a:xfrm>
          <a:prstGeom prst="roundRect">
            <a:avLst/>
          </a:prstGeom>
          <a:noFill/>
          <a:ln w="12700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0" y="2286000"/>
            <a:ext cx="6217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8F98"/>
                </a:solidFill>
                <a:latin typeface="微软雅黑"/>
              </a:rPr>
              <a:t>投标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04704" y="2286000"/>
            <a:ext cx="621792" cy="548640"/>
          </a:xfrm>
          <a:prstGeom prst="roundRect">
            <a:avLst/>
          </a:prstGeom>
          <a:noFill/>
          <a:ln w="12700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04704" y="2286000"/>
            <a:ext cx="6217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8F98"/>
                </a:solidFill>
                <a:latin typeface="微软雅黑"/>
              </a:rPr>
              <a:t>合同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899648" y="2286000"/>
            <a:ext cx="621792" cy="548640"/>
          </a:xfrm>
          <a:prstGeom prst="roundRect">
            <a:avLst/>
          </a:prstGeom>
          <a:noFill/>
          <a:ln w="12700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99648" y="2286000"/>
            <a:ext cx="6217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8F98"/>
                </a:solidFill>
                <a:latin typeface="微软雅黑"/>
              </a:rPr>
              <a:t>回款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" y="361188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A506B"/>
                </a:solidFill>
                <a:latin typeface="微软雅黑"/>
              </a:rPr>
              <a:t>线索等级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2064" y="3904488"/>
            <a:ext cx="2586152" cy="804672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3995928"/>
            <a:ext cx="2293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73649"/>
                </a:solidFill>
                <a:latin typeface="微软雅黑"/>
              </a:rPr>
              <a:t>初步线索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4233672"/>
            <a:ext cx="22935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46070"/>
                </a:solidFill>
                <a:latin typeface="微软雅黑"/>
              </a:rPr>
              <a:t>客户、需求方向、信息来源明确。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72536" y="3904488"/>
            <a:ext cx="2586152" cy="804672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18840" y="3995928"/>
            <a:ext cx="2293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73649"/>
                </a:solidFill>
                <a:latin typeface="微软雅黑"/>
              </a:rPr>
              <a:t>培育线索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18840" y="4233672"/>
            <a:ext cx="22935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46070"/>
                </a:solidFill>
                <a:latin typeface="微软雅黑"/>
              </a:rPr>
              <a:t>已有跟进动作，关键经营信息仍需补充。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33008" y="3904488"/>
            <a:ext cx="2586152" cy="804672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79312" y="3995928"/>
            <a:ext cx="2293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73649"/>
                </a:solidFill>
                <a:latin typeface="微软雅黑"/>
              </a:rPr>
              <a:t>合格线索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79312" y="4233672"/>
            <a:ext cx="22935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46070"/>
                </a:solidFill>
                <a:latin typeface="微软雅黑"/>
              </a:rPr>
              <a:t>预算或资金来源、采购范围、时间窗、金额区间基本明确。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93479" y="3904488"/>
            <a:ext cx="2586152" cy="804672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39783" y="3995928"/>
            <a:ext cx="2293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73649"/>
                </a:solidFill>
                <a:latin typeface="微软雅黑"/>
              </a:rPr>
              <a:t>重点机会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39783" y="4233672"/>
            <a:ext cx="22935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46070"/>
                </a:solidFill>
                <a:latin typeface="微软雅黑"/>
              </a:rPr>
              <a:t>竞争格局、决策关系、下一步和责任分工清晰。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2064" y="4818888"/>
            <a:ext cx="11167567" cy="310896"/>
          </a:xfrm>
          <a:prstGeom prst="rect">
            <a:avLst/>
          </a:prstGeom>
          <a:solidFill>
            <a:srgbClr val="F5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6656" y="4818888"/>
            <a:ext cx="1083838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7B47"/>
                </a:solidFill>
                <a:latin typeface="微软雅黑"/>
              </a:rPr>
              <a:t>工作界面：市场部承诺线索质量；接收、回流和状态维护规则提请公司确认。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12064" y="6528816"/>
            <a:ext cx="11167567" cy="0"/>
          </a:xfrm>
          <a:prstGeom prst="line">
            <a:avLst/>
          </a:prstGeom>
          <a:ln w="9525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12064" y="657453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遨海科技市场部 · 2026 年半年工作总结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82351" y="657453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8F98"/>
                </a:solidFill>
                <a:latin typeface="Consolas"/>
              </a:rPr>
              <a:t>04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308031" y="274320"/>
            <a:ext cx="1371600" cy="292608"/>
          </a:xfrm>
          <a:prstGeom prst="rect">
            <a:avLst/>
          </a:prstGeom>
          <a:noFill/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08031" y="274320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46070"/>
                </a:solidFill>
                <a:latin typeface="微软雅黑"/>
              </a:rPr>
              <a:t>遨海科技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21792"/>
            <a:ext cx="11167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2A38"/>
                </a:solidFill>
                <a:latin typeface="微软雅黑"/>
              </a:rPr>
              <a:t>5 月建立运行规则，6 月开始用真实任务检验流程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179576"/>
            <a:ext cx="11167567" cy="457200"/>
          </a:xfrm>
          <a:prstGeom prst="rect">
            <a:avLst/>
          </a:prstGeom>
          <a:solidFill>
            <a:srgbClr val="DE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1179576"/>
            <a:ext cx="45720" cy="457200"/>
          </a:xfrm>
          <a:prstGeom prst="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79576"/>
            <a:ext cx="108475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73649"/>
                </a:solidFill>
                <a:latin typeface="微软雅黑"/>
              </a:rPr>
              <a:t>两个月完成制度、训练、六池和调度机制建设，并开始通过实际线索和标讯检验经营前端流程。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1783080"/>
            <a:ext cx="5400904" cy="233172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22960" y="2057400"/>
            <a:ext cx="0" cy="1856232"/>
          </a:xfrm>
          <a:prstGeom prst="line">
            <a:avLst/>
          </a:prstGeom>
          <a:ln w="22860">
            <a:solidFill>
              <a:srgbClr val="3A50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14984" y="1929384"/>
            <a:ext cx="46693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A506B"/>
                </a:solidFill>
                <a:latin typeface="微软雅黑"/>
              </a:rPr>
              <a:t>5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2240280"/>
            <a:ext cx="46693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46070"/>
                </a:solidFill>
                <a:latin typeface="微软雅黑"/>
              </a:rPr>
              <a:t>建立规则和基本能力</a:t>
            </a:r>
          </a:p>
        </p:txBody>
      </p:sp>
      <p:sp>
        <p:nvSpPr>
          <p:cNvPr id="13" name="Oval 12"/>
          <p:cNvSpPr/>
          <p:nvPr/>
        </p:nvSpPr>
        <p:spPr>
          <a:xfrm>
            <a:off x="772668" y="2683764"/>
            <a:ext cx="100584" cy="100584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" y="2651760"/>
            <a:ext cx="4669384" cy="472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A506B"/>
                </a:solidFill>
                <a:latin typeface="微软雅黑"/>
              </a:rPr>
              <a:t>— </a:t>
            </a:r>
            <a:r>
              <a:rPr sz="1100" b="0" i="0">
                <a:solidFill>
                  <a:srgbClr val="1E2A38"/>
                </a:solidFill>
                <a:latin typeface="微软雅黑"/>
              </a:rPr>
              <a:t>完成市场部基础制度、职责和工作流程。</a:t>
            </a:r>
          </a:p>
        </p:txBody>
      </p:sp>
      <p:sp>
        <p:nvSpPr>
          <p:cNvPr id="15" name="Oval 14"/>
          <p:cNvSpPr/>
          <p:nvPr/>
        </p:nvSpPr>
        <p:spPr>
          <a:xfrm>
            <a:off x="772668" y="3156204"/>
            <a:ext cx="100584" cy="100584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" y="3124200"/>
            <a:ext cx="4669384" cy="472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A506B"/>
                </a:solidFill>
                <a:latin typeface="微软雅黑"/>
              </a:rPr>
              <a:t>— </a:t>
            </a:r>
            <a:r>
              <a:rPr sz="1100" b="0" i="0">
                <a:solidFill>
                  <a:srgbClr val="1E2A38"/>
                </a:solidFill>
                <a:latin typeface="微软雅黑"/>
              </a:rPr>
              <a:t>组织公司级销售初级训练营。</a:t>
            </a:r>
          </a:p>
        </p:txBody>
      </p:sp>
      <p:sp>
        <p:nvSpPr>
          <p:cNvPr id="17" name="Oval 16"/>
          <p:cNvSpPr/>
          <p:nvPr/>
        </p:nvSpPr>
        <p:spPr>
          <a:xfrm>
            <a:off x="772668" y="3628644"/>
            <a:ext cx="100584" cy="100584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" y="3596640"/>
            <a:ext cx="4669384" cy="472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A506B"/>
                </a:solidFill>
                <a:latin typeface="微软雅黑"/>
              </a:rPr>
              <a:t>— </a:t>
            </a:r>
            <a:r>
              <a:rPr sz="1100" b="0" i="0">
                <a:solidFill>
                  <a:srgbClr val="1E2A38"/>
                </a:solidFill>
                <a:latin typeface="微软雅黑"/>
              </a:rPr>
              <a:t>形成统一课件、六类场景作战卡和客户地图。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8" y="1783080"/>
            <a:ext cx="5400904" cy="233172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589624" y="2057400"/>
            <a:ext cx="0" cy="1856232"/>
          </a:xfrm>
          <a:prstGeom prst="line">
            <a:avLst/>
          </a:prstGeom>
          <a:ln w="22860">
            <a:solidFill>
              <a:srgbClr val="5B9E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81648" y="1929384"/>
            <a:ext cx="46693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B9E9A"/>
                </a:solidFill>
                <a:latin typeface="微软雅黑"/>
              </a:rPr>
              <a:t>6 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1648" y="2240280"/>
            <a:ext cx="46693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46070"/>
                </a:solidFill>
                <a:latin typeface="微软雅黑"/>
              </a:rPr>
              <a:t>建立数据和经营资产</a:t>
            </a:r>
          </a:p>
        </p:txBody>
      </p:sp>
      <p:sp>
        <p:nvSpPr>
          <p:cNvPr id="23" name="Oval 22"/>
          <p:cNvSpPr/>
          <p:nvPr/>
        </p:nvSpPr>
        <p:spPr>
          <a:xfrm>
            <a:off x="6539332" y="2683764"/>
            <a:ext cx="100584" cy="100584"/>
          </a:xfrm>
          <a:prstGeom prst="ellipse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1648" y="2651760"/>
            <a:ext cx="4669384" cy="3543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9E9A"/>
                </a:solidFill>
                <a:latin typeface="微软雅黑"/>
              </a:rPr>
              <a:t>— </a:t>
            </a:r>
            <a:r>
              <a:rPr sz="1100" b="0" i="0">
                <a:solidFill>
                  <a:srgbClr val="1E2A38"/>
                </a:solidFill>
                <a:latin typeface="微软雅黑"/>
              </a:rPr>
              <a:t>归集并处理市场信息和标讯。</a:t>
            </a:r>
          </a:p>
        </p:txBody>
      </p:sp>
      <p:sp>
        <p:nvSpPr>
          <p:cNvPr id="25" name="Oval 24"/>
          <p:cNvSpPr/>
          <p:nvPr/>
        </p:nvSpPr>
        <p:spPr>
          <a:xfrm>
            <a:off x="6539332" y="3038094"/>
            <a:ext cx="100584" cy="100584"/>
          </a:xfrm>
          <a:prstGeom prst="ellipse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1648" y="3006090"/>
            <a:ext cx="4669384" cy="3543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9E9A"/>
                </a:solidFill>
                <a:latin typeface="微软雅黑"/>
              </a:rPr>
              <a:t>— </a:t>
            </a:r>
            <a:r>
              <a:rPr sz="1100" b="0" i="0">
                <a:solidFill>
                  <a:srgbClr val="1E2A38"/>
                </a:solidFill>
                <a:latin typeface="微软雅黑"/>
              </a:rPr>
              <a:t>建立六类经营资产框架，六池建设任务完成 44/50。</a:t>
            </a:r>
          </a:p>
        </p:txBody>
      </p:sp>
      <p:sp>
        <p:nvSpPr>
          <p:cNvPr id="27" name="Oval 26"/>
          <p:cNvSpPr/>
          <p:nvPr/>
        </p:nvSpPr>
        <p:spPr>
          <a:xfrm>
            <a:off x="6539332" y="3392424"/>
            <a:ext cx="100584" cy="100584"/>
          </a:xfrm>
          <a:prstGeom prst="ellipse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81648" y="3360420"/>
            <a:ext cx="4669384" cy="3543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9E9A"/>
                </a:solidFill>
                <a:latin typeface="微软雅黑"/>
              </a:rPr>
              <a:t>— </a:t>
            </a:r>
            <a:r>
              <a:rPr sz="1100" b="0" i="0">
                <a:solidFill>
                  <a:srgbClr val="1E2A38"/>
                </a:solidFill>
                <a:latin typeface="微软雅黑"/>
              </a:rPr>
              <a:t>建立标前评估和 Go/No-Go 判断机制。</a:t>
            </a:r>
          </a:p>
        </p:txBody>
      </p:sp>
      <p:sp>
        <p:nvSpPr>
          <p:cNvPr id="29" name="Oval 28"/>
          <p:cNvSpPr/>
          <p:nvPr/>
        </p:nvSpPr>
        <p:spPr>
          <a:xfrm>
            <a:off x="6539332" y="3746754"/>
            <a:ext cx="100584" cy="100584"/>
          </a:xfrm>
          <a:prstGeom prst="ellipse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1648" y="3714750"/>
            <a:ext cx="4669384" cy="3543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9E9A"/>
                </a:solidFill>
                <a:latin typeface="微软雅黑"/>
              </a:rPr>
              <a:t>— </a:t>
            </a:r>
            <a:r>
              <a:rPr sz="1100" b="0" i="0">
                <a:solidFill>
                  <a:srgbClr val="1E2A38"/>
                </a:solidFill>
                <a:latin typeface="微软雅黑"/>
              </a:rPr>
              <a:t>将 17 项临时重要事项纳入统一动态调度。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" y="4370832"/>
            <a:ext cx="2654732" cy="384048"/>
          </a:xfrm>
          <a:prstGeom prst="roundRect">
            <a:avLst/>
          </a:prstGeom>
          <a:solidFill>
            <a:srgbClr val="EC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4370832"/>
            <a:ext cx="26547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59F"/>
                </a:solidFill>
                <a:latin typeface="微软雅黑"/>
              </a:rPr>
              <a:t>六池存数据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49676" y="4370832"/>
            <a:ext cx="2654732" cy="384048"/>
          </a:xfrm>
          <a:prstGeom prst="roundRect">
            <a:avLst/>
          </a:prstGeom>
          <a:solidFill>
            <a:srgbClr val="EC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9676" y="4370832"/>
            <a:ext cx="26547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59F"/>
                </a:solidFill>
                <a:latin typeface="微软雅黑"/>
              </a:rPr>
              <a:t>月例会定优先级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7288" y="4370832"/>
            <a:ext cx="2654732" cy="384048"/>
          </a:xfrm>
          <a:prstGeom prst="roundRect">
            <a:avLst/>
          </a:prstGeom>
          <a:solidFill>
            <a:srgbClr val="EC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87288" y="4370832"/>
            <a:ext cx="26547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59F"/>
                </a:solidFill>
                <a:latin typeface="微软雅黑"/>
              </a:rPr>
              <a:t>任务平台跟责任节点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24899" y="4370832"/>
            <a:ext cx="2654732" cy="384048"/>
          </a:xfrm>
          <a:prstGeom prst="roundRect">
            <a:avLst/>
          </a:prstGeom>
          <a:solidFill>
            <a:srgbClr val="EC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24899" y="4370832"/>
            <a:ext cx="26547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59F"/>
                </a:solidFill>
                <a:latin typeface="微软雅黑"/>
              </a:rPr>
              <a:t>知识平台沉淀模板与版本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" y="5833872"/>
            <a:ext cx="11167567" cy="566928"/>
          </a:xfrm>
          <a:prstGeom prst="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833872"/>
            <a:ext cx="1065550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5F0"/>
                </a:solidFill>
                <a:latin typeface="微软雅黑"/>
              </a:rPr>
              <a:t>上半年的关键成果，是让市场工作从分散响应进入统一流程，并产生了第一批可复盘数据。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12064" y="6528816"/>
            <a:ext cx="11167567" cy="0"/>
          </a:xfrm>
          <a:prstGeom prst="line">
            <a:avLst/>
          </a:prstGeom>
          <a:ln w="9525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12064" y="657453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遨海科技市场部 · 2026 年半年工作总结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82351" y="657453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8F98"/>
                </a:solidFill>
                <a:latin typeface="Consolas"/>
              </a:rPr>
              <a:t>05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308031" y="274320"/>
            <a:ext cx="1371600" cy="292608"/>
          </a:xfrm>
          <a:prstGeom prst="rect">
            <a:avLst/>
          </a:prstGeom>
          <a:noFill/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08031" y="274320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46070"/>
                </a:solidFill>
                <a:latin typeface="微软雅黑"/>
              </a:rPr>
              <a:t>遨海科技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21792"/>
            <a:ext cx="11167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2A38"/>
                </a:solidFill>
                <a:latin typeface="微软雅黑"/>
              </a:rPr>
              <a:t>上半年形成 9 条有效线索，来源结构和成熟度已初步可见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179576"/>
            <a:ext cx="11167567" cy="457200"/>
          </a:xfrm>
          <a:prstGeom prst="rect">
            <a:avLst/>
          </a:prstGeom>
          <a:solidFill>
            <a:srgbClr val="DE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1179576"/>
            <a:ext cx="45720" cy="457200"/>
          </a:xfrm>
          <a:prstGeom prst="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79576"/>
            <a:ext cx="108475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73649"/>
                </a:solidFill>
                <a:latin typeface="微软雅黑"/>
              </a:rPr>
              <a:t>线索已经开始产生，但来源集中、成熟度偏低，尚未形成金额判断和规范移交。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1783080"/>
            <a:ext cx="5989320" cy="301752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9384"/>
            <a:ext cx="55504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A506B"/>
                </a:solidFill>
                <a:latin typeface="微软雅黑"/>
              </a:rPr>
              <a:t>线索来源结构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9224" y="2258568"/>
          <a:ext cx="571500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" y="4782312"/>
            <a:ext cx="5550408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" b="0" i="0">
                <a:solidFill>
                  <a:srgbClr val="1E2A38"/>
                </a:solidFill>
                <a:latin typeface="微软雅黑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4855464"/>
            <a:ext cx="598932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4855464"/>
            <a:ext cx="5989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73649"/>
                </a:solidFill>
                <a:latin typeface="微软雅黑"/>
              </a:rPr>
              <a:t>77% 的有效线索来自管理层导入和市场部主动开发。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1424" y="1783080"/>
            <a:ext cx="48582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A506B"/>
                </a:solidFill>
                <a:latin typeface="微软雅黑"/>
              </a:rPr>
              <a:t>线索成熟度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21424" y="2130552"/>
            <a:ext cx="4858207" cy="457200"/>
          </a:xfrm>
          <a:prstGeom prst="roundRect">
            <a:avLst/>
          </a:prstGeom>
          <a:solidFill>
            <a:srgbClr val="DE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130552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73649"/>
                </a:solidFill>
                <a:latin typeface="Consolas"/>
              </a:rPr>
              <a:t>5 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1544" y="2130552"/>
            <a:ext cx="37609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6070"/>
                </a:solidFill>
                <a:latin typeface="微软雅黑"/>
              </a:rPr>
              <a:t>初步培育，信息仍不完整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21424" y="2715768"/>
            <a:ext cx="4858207" cy="457200"/>
          </a:xfrm>
          <a:prstGeom prst="roundRect">
            <a:avLst/>
          </a:prstGeom>
          <a:solidFill>
            <a:srgbClr val="E1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86016" y="2715768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B9E9A"/>
                </a:solidFill>
                <a:latin typeface="Consolas"/>
              </a:rPr>
              <a:t>3 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1544" y="2715768"/>
            <a:ext cx="37609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6070"/>
                </a:solidFill>
                <a:latin typeface="微软雅黑"/>
              </a:rPr>
              <a:t>市场部持续主跟进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21424" y="3300984"/>
            <a:ext cx="4858207" cy="713232"/>
          </a:xfrm>
          <a:prstGeom prst="roundRect">
            <a:avLst/>
          </a:prstGeom>
          <a:solidFill>
            <a:srgbClr val="F5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3300984"/>
            <a:ext cx="822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7B47"/>
                </a:solidFill>
                <a:latin typeface="Consolas"/>
              </a:rPr>
              <a:t>1 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1544" y="3300984"/>
            <a:ext cx="376092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6070"/>
                </a:solidFill>
                <a:latin typeface="微软雅黑"/>
              </a:rPr>
              <a:t>事实移交北京分公司主跟进（正式移交记录待补）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21424" y="4160520"/>
            <a:ext cx="4858207" cy="329184"/>
          </a:xfrm>
          <a:prstGeom prst="roundRect">
            <a:avLst/>
          </a:prstGeom>
          <a:solidFill>
            <a:srgbClr val="F5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1424" y="4160520"/>
            <a:ext cx="4858207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7B47"/>
                </a:solidFill>
                <a:latin typeface="微软雅黑"/>
              </a:rPr>
              <a:t>9 条线索均未形成金额或金额区间判断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599432"/>
            <a:ext cx="48582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A506B"/>
                </a:solidFill>
                <a:latin typeface="微软雅黑"/>
              </a:rPr>
              <a:t>推进动作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21424" y="4892040"/>
            <a:ext cx="1521866" cy="6858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21424" y="4946904"/>
            <a:ext cx="152186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A506B"/>
                </a:solidFill>
                <a:latin typeface="Consolas"/>
              </a:rPr>
              <a:t>4 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5221224"/>
            <a:ext cx="141213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46070"/>
                </a:solidFill>
                <a:latin typeface="微软雅黑"/>
              </a:rPr>
              <a:t>已明确下一步动作和计划时间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89594" y="4892040"/>
            <a:ext cx="1521866" cy="6858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89594" y="4946904"/>
            <a:ext cx="152186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A506B"/>
                </a:solidFill>
                <a:latin typeface="Consolas"/>
              </a:rPr>
              <a:t>2 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4458" y="5221224"/>
            <a:ext cx="141213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46070"/>
                </a:solidFill>
                <a:latin typeface="微软雅黑"/>
              </a:rPr>
              <a:t>有下一步动作，但无明确时间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57765" y="4892040"/>
            <a:ext cx="1521866" cy="6858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57765" y="4946904"/>
            <a:ext cx="152186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A506B"/>
                </a:solidFill>
                <a:latin typeface="Consolas"/>
              </a:rPr>
              <a:t>3 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12629" y="5221224"/>
            <a:ext cx="141213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46070"/>
                </a:solidFill>
                <a:latin typeface="微软雅黑"/>
              </a:rPr>
              <a:t>尚未形成明确下一步动作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" y="5833872"/>
            <a:ext cx="11167567" cy="566928"/>
          </a:xfrm>
          <a:prstGeom prst="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5833872"/>
            <a:ext cx="1065550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5F0"/>
                </a:solidFill>
                <a:latin typeface="微软雅黑"/>
              </a:rPr>
              <a:t>问题不是“没有线索”，而是渠道尚未稳定、线索还不够成熟、经营价值还无法量化。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12064" y="6528816"/>
            <a:ext cx="11167567" cy="0"/>
          </a:xfrm>
          <a:prstGeom prst="line">
            <a:avLst/>
          </a:prstGeom>
          <a:ln w="9525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12064" y="657453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遨海科技市场部 · 2026 年半年工作总结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2351" y="657453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8F98"/>
                </a:solidFill>
                <a:latin typeface="Consolas"/>
              </a:rPr>
              <a:t>06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308031" y="274320"/>
            <a:ext cx="1371600" cy="292608"/>
          </a:xfrm>
          <a:prstGeom prst="rect">
            <a:avLst/>
          </a:prstGeom>
          <a:noFill/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08031" y="274320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46070"/>
                </a:solidFill>
                <a:latin typeface="微软雅黑"/>
              </a:rPr>
              <a:t>遨海科技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21792"/>
            <a:ext cx="11167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2A38"/>
                </a:solidFill>
                <a:latin typeface="微软雅黑"/>
              </a:rPr>
              <a:t>实际运行暴露出四类问题：渠道、成熟度、价值判断和工作界面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179576"/>
            <a:ext cx="11167567" cy="457200"/>
          </a:xfrm>
          <a:prstGeom prst="rect">
            <a:avLst/>
          </a:prstGeom>
          <a:solidFill>
            <a:srgbClr val="DE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1179576"/>
            <a:ext cx="45720" cy="457200"/>
          </a:xfrm>
          <a:prstGeom prst="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79576"/>
            <a:ext cx="108475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73649"/>
                </a:solidFill>
                <a:latin typeface="微软雅黑"/>
              </a:rPr>
              <a:t>这些问题不是对上半年工作的否定，而是下半年进行精细化运营的真实起点。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1783080"/>
            <a:ext cx="4491076" cy="157276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1911096"/>
            <a:ext cx="329184" cy="329184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6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5F0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929384"/>
            <a:ext cx="38052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A38"/>
                </a:solidFill>
                <a:latin typeface="微软雅黑"/>
              </a:rPr>
              <a:t>渠道结构尚未稳定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295144"/>
            <a:ext cx="3988156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A506B"/>
                </a:solidFill>
                <a:latin typeface="微软雅黑"/>
              </a:rPr>
              <a:t>— </a:t>
            </a:r>
            <a:r>
              <a:rPr sz="1000" b="0" i="0">
                <a:solidFill>
                  <a:srgbClr val="1E2A38"/>
                </a:solidFill>
                <a:latin typeface="微软雅黑"/>
              </a:rPr>
              <a:t>44% 依赖管理层转入。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A506B"/>
                </a:solidFill>
                <a:latin typeface="微软雅黑"/>
              </a:rPr>
              <a:t>— </a:t>
            </a:r>
            <a:r>
              <a:rPr sz="1000" b="0" i="0">
                <a:solidFill>
                  <a:srgbClr val="1E2A38"/>
                </a:solidFill>
                <a:latin typeface="微软雅黑"/>
              </a:rPr>
              <a:t>政策、协会和政府渠道尚未形成有效线索。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A506B"/>
                </a:solidFill>
                <a:latin typeface="微软雅黑"/>
              </a:rPr>
              <a:t>— </a:t>
            </a:r>
            <a:r>
              <a:rPr sz="1000" b="0" i="0">
                <a:solidFill>
                  <a:srgbClr val="1E2A38"/>
                </a:solidFill>
                <a:latin typeface="微软雅黑"/>
              </a:rPr>
              <a:t>合作伙伴渠道只有 1 条，尚未形成稳定贡献。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22596" y="1783080"/>
            <a:ext cx="4491076" cy="157276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50612" y="1911096"/>
            <a:ext cx="329184" cy="329184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50612" y="1911096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5F0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4660" y="1929384"/>
            <a:ext cx="38052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A38"/>
                </a:solidFill>
                <a:latin typeface="微软雅黑"/>
              </a:rPr>
              <a:t>线索成熟度不足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96916" y="2295144"/>
            <a:ext cx="3988156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A506B"/>
                </a:solidFill>
                <a:latin typeface="微软雅黑"/>
              </a:rPr>
              <a:t>— </a:t>
            </a:r>
            <a:r>
              <a:rPr sz="1000" b="0" i="0">
                <a:solidFill>
                  <a:srgbClr val="1E2A38"/>
                </a:solidFill>
                <a:latin typeface="微软雅黑"/>
              </a:rPr>
              <a:t>5/9 仍处于信息补全阶段。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A506B"/>
                </a:solidFill>
                <a:latin typeface="微软雅黑"/>
              </a:rPr>
              <a:t>— </a:t>
            </a:r>
            <a:r>
              <a:rPr sz="1000" b="0" i="0">
                <a:solidFill>
                  <a:srgbClr val="1E2A38"/>
                </a:solidFill>
                <a:latin typeface="微软雅黑"/>
              </a:rPr>
              <a:t>5/9 缺少明确推进时间，其中 3 条没有下一步动作。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" y="3575304"/>
            <a:ext cx="4491076" cy="157276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3703320"/>
            <a:ext cx="329184" cy="329184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5F0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721608"/>
            <a:ext cx="38052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A38"/>
                </a:solidFill>
                <a:latin typeface="微软雅黑"/>
              </a:rPr>
              <a:t>经营价值无法量化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087368"/>
            <a:ext cx="3988156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A506B"/>
                </a:solidFill>
                <a:latin typeface="微软雅黑"/>
              </a:rPr>
              <a:t>— </a:t>
            </a:r>
            <a:r>
              <a:rPr sz="1000" b="0" i="0">
                <a:solidFill>
                  <a:srgbClr val="1E2A38"/>
                </a:solidFill>
                <a:latin typeface="微软雅黑"/>
              </a:rPr>
              <a:t>9/9 均无法估算金额。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A506B"/>
                </a:solidFill>
                <a:latin typeface="微软雅黑"/>
              </a:rPr>
              <a:t>— </a:t>
            </a:r>
            <a:r>
              <a:rPr sz="1000" b="0" i="0">
                <a:solidFill>
                  <a:srgbClr val="1E2A38"/>
                </a:solidFill>
                <a:latin typeface="微软雅黑"/>
              </a:rPr>
              <a:t>4 条重点跟进线索仍缺预算、采购范围、方案配置和立项时间。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22596" y="3575304"/>
            <a:ext cx="4491076" cy="157276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50612" y="3703320"/>
            <a:ext cx="329184" cy="329184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50612" y="370332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5F0"/>
                </a:solidFill>
                <a:latin typeface="Consola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34660" y="3721608"/>
            <a:ext cx="38052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A38"/>
                </a:solidFill>
                <a:latin typeface="微软雅黑"/>
              </a:rPr>
              <a:t>工作界面没有闭环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96916" y="4087368"/>
            <a:ext cx="3988156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A506B"/>
                </a:solidFill>
                <a:latin typeface="微软雅黑"/>
              </a:rPr>
              <a:t>— </a:t>
            </a:r>
            <a:r>
              <a:rPr sz="1000" b="0" i="0">
                <a:solidFill>
                  <a:srgbClr val="1E2A38"/>
                </a:solidFill>
                <a:latin typeface="微软雅黑"/>
              </a:rPr>
              <a:t>1 条线索已事实移交北分，但没有正式移交和接收记录。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A506B"/>
                </a:solidFill>
                <a:latin typeface="微软雅黑"/>
              </a:rPr>
              <a:t>— </a:t>
            </a:r>
            <a:r>
              <a:rPr sz="1000" b="0" i="0">
                <a:solidFill>
                  <a:srgbClr val="1E2A38"/>
                </a:solidFill>
                <a:latin typeface="微软雅黑"/>
              </a:rPr>
              <a:t>移交后的状态回传、回流和统计规则尚未形成。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50831" y="1783080"/>
            <a:ext cx="1828800" cy="3364992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15423" y="1929384"/>
            <a:ext cx="14996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A506B"/>
                </a:solidFill>
                <a:latin typeface="微软雅黑"/>
              </a:rPr>
              <a:t>标讯侧补充诊断</a:t>
            </a:r>
          </a:p>
        </p:txBody>
      </p:sp>
      <p:sp>
        <p:nvSpPr>
          <p:cNvPr id="31" name="Oval 30"/>
          <p:cNvSpPr/>
          <p:nvPr/>
        </p:nvSpPr>
        <p:spPr>
          <a:xfrm>
            <a:off x="10198303" y="2633472"/>
            <a:ext cx="1133856" cy="1133856"/>
          </a:xfrm>
          <a:prstGeom prst="ellipse">
            <a:avLst/>
          </a:prstGeom>
          <a:noFill/>
          <a:ln w="76200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10765231" y="2633472"/>
            <a:ext cx="109728" cy="18288"/>
          </a:xfrm>
          <a:prstGeom prst="line">
            <a:avLst/>
          </a:prstGeom>
          <a:ln w="76200">
            <a:solidFill>
              <a:srgbClr val="C97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850831" y="2980944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97B47"/>
                </a:solidFill>
                <a:latin typeface="Consolas"/>
              </a:rPr>
              <a:t>0/6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78847" y="3931920"/>
            <a:ext cx="15727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46070"/>
                </a:solidFill>
                <a:latin typeface="微软雅黑"/>
              </a:rPr>
              <a:t>6 项标讯均在公告发布后进入评估，标讯前置识别率为 0/6；具体 No-Go 原因待逐条回填。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" y="5833872"/>
            <a:ext cx="11167567" cy="566928"/>
          </a:xfrm>
          <a:prstGeom prst="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5833872"/>
            <a:ext cx="1065550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5F0"/>
                </a:solidFill>
                <a:latin typeface="微软雅黑"/>
              </a:rPr>
              <a:t>上半年问题的共同指向：MTL 已经开始运行，但还缺少数据完整度、渠道质量和持续调优能力。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12064" y="6528816"/>
            <a:ext cx="11167567" cy="0"/>
          </a:xfrm>
          <a:prstGeom prst="line">
            <a:avLst/>
          </a:prstGeom>
          <a:ln w="9525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12064" y="657453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遨海科技市场部 · 2026 年半年工作总结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82351" y="657453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8F98"/>
                </a:solidFill>
                <a:latin typeface="Consolas"/>
              </a:rPr>
              <a:t>07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308031" y="274320"/>
            <a:ext cx="1371600" cy="292608"/>
          </a:xfrm>
          <a:prstGeom prst="rect">
            <a:avLst/>
          </a:prstGeom>
          <a:noFill/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08031" y="274320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46070"/>
                </a:solidFill>
                <a:latin typeface="微软雅黑"/>
              </a:rPr>
              <a:t>遨海科技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21792"/>
            <a:ext cx="11167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2A38"/>
                </a:solidFill>
                <a:latin typeface="微软雅黑"/>
              </a:rPr>
              <a:t>上半年发现的问题，就是下半年精细化改进的依据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179576"/>
            <a:ext cx="11167567" cy="457200"/>
          </a:xfrm>
          <a:prstGeom prst="rect">
            <a:avLst/>
          </a:prstGeom>
          <a:solidFill>
            <a:srgbClr val="DE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1179576"/>
            <a:ext cx="45720" cy="457200"/>
          </a:xfrm>
          <a:prstGeom prst="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79576"/>
            <a:ext cx="108475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73649"/>
                </a:solidFill>
                <a:latin typeface="微软雅黑"/>
              </a:rPr>
              <a:t>下半年每项动作都必须对应一个已发生的问题，并通过新的运行数据验证是否有效。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12064" y="1783080"/>
          <a:ext cx="11167566" cy="2606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22522"/>
                <a:gridCol w="3722522"/>
                <a:gridCol w="3722522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5F0"/>
                          </a:solidFill>
                          <a:latin typeface="微软雅黑"/>
                        </a:rPr>
                        <a:t>上半年暴露的问题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3A50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5F0"/>
                          </a:solidFill>
                          <a:latin typeface="微软雅黑"/>
                        </a:rPr>
                        <a:t>下半年改进动作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3A50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5F0"/>
                          </a:solidFill>
                          <a:latin typeface="微软雅黑"/>
                        </a:rPr>
                        <a:t>验证结果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3A506B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E2A38"/>
                          </a:solidFill>
                          <a:latin typeface="微软雅黑"/>
                        </a:rPr>
                        <a:t>线索来源集中、稳定渠道不足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E2A38"/>
                          </a:solidFill>
                          <a:latin typeface="微软雅黑"/>
                        </a:rPr>
                        <a:t>建立渠道分类、重点主体和伙伴运营机制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E2A38"/>
                          </a:solidFill>
                          <a:latin typeface="微软雅黑"/>
                        </a:rPr>
                        <a:t>各渠道有效线索数、成熟度和推进速度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CFBF8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E2A38"/>
                          </a:solidFill>
                          <a:latin typeface="微软雅黑"/>
                        </a:rPr>
                        <a:t>线索信息不完整、推进节奏不清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E2A38"/>
                          </a:solidFill>
                          <a:latin typeface="微软雅黑"/>
                        </a:rPr>
                        <a:t>统一字段、阶段、下一步和更新时间要求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E2A38"/>
                          </a:solidFill>
                          <a:latin typeface="微软雅黑"/>
                        </a:rPr>
                        <a:t>数据完整率、阶段变化、超期情况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7F5F0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E2A38"/>
                          </a:solidFill>
                          <a:latin typeface="微软雅黑"/>
                        </a:rPr>
                        <a:t>9 条线索无法估值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E2A38"/>
                          </a:solidFill>
                          <a:latin typeface="微软雅黑"/>
                        </a:rPr>
                        <a:t>建立金额区间、预算和价值评估规则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E2A38"/>
                          </a:solidFill>
                          <a:latin typeface="微软雅黑"/>
                        </a:rPr>
                        <a:t>价值评估覆盖率、管道金额基线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CFBF8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E2A38"/>
                          </a:solidFill>
                          <a:latin typeface="微软雅黑"/>
                        </a:rPr>
                        <a:t>事实移交但无正式记录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E2A38"/>
                          </a:solidFill>
                          <a:latin typeface="微软雅黑"/>
                        </a:rPr>
                        <a:t>建立移交、接收、回流和状态更新规则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E2A38"/>
                          </a:solidFill>
                          <a:latin typeface="微软雅黑"/>
                        </a:rPr>
                        <a:t>正式移交率、接收状态完整率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7F5F0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E2A38"/>
                          </a:solidFill>
                          <a:latin typeface="微软雅黑"/>
                        </a:rPr>
                        <a:t>标讯均在公告后识别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E2A38"/>
                          </a:solidFill>
                          <a:latin typeface="微软雅黑"/>
                        </a:rPr>
                        <a:t>跟踪重点主体、政策规划、标准和伙伴信息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E2A38"/>
                          </a:solidFill>
                          <a:latin typeface="微软雅黑"/>
                        </a:rPr>
                        <a:t>标讯前置识别率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12064" y="4645152"/>
            <a:ext cx="11167567" cy="566928"/>
          </a:xfrm>
          <a:prstGeom prst="rect">
            <a:avLst/>
          </a:prstGeom>
          <a:solidFill>
            <a:srgbClr val="DE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4645152"/>
            <a:ext cx="1463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A506B"/>
                </a:solidFill>
                <a:latin typeface="Consolas"/>
              </a:rPr>
              <a:t>核心转折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544" y="4645152"/>
            <a:ext cx="94302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73649"/>
                </a:solidFill>
                <a:latin typeface="微软雅黑"/>
              </a:rPr>
              <a:t>建设重点从“把表建出来”，转为“用运行数据持续发现问题、调整规则和重新配置资源”。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2064" y="6528816"/>
            <a:ext cx="11167567" cy="0"/>
          </a:xfrm>
          <a:prstGeom prst="line">
            <a:avLst/>
          </a:prstGeom>
          <a:ln w="9525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2064" y="657453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遨海科技市场部 · 2026 年半年工作总结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82351" y="657453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8F98"/>
                </a:solidFill>
                <a:latin typeface="Consolas"/>
              </a:rPr>
              <a:t>08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308031" y="274320"/>
            <a:ext cx="1371600" cy="292608"/>
          </a:xfrm>
          <a:prstGeom prst="rect">
            <a:avLst/>
          </a:prstGeom>
          <a:noFill/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08031" y="274320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46070"/>
                </a:solidFill>
                <a:latin typeface="微软雅黑"/>
              </a:rPr>
              <a:t>遨海科技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21792"/>
            <a:ext cx="11167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E2A38"/>
                </a:solidFill>
                <a:latin typeface="微软雅黑"/>
              </a:rPr>
              <a:t>下半年推动 MTL 进入“数据—复盘—调优—再运行”的闭环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179576"/>
            <a:ext cx="11167567" cy="457200"/>
          </a:xfrm>
          <a:prstGeom prst="rect">
            <a:avLst/>
          </a:prstGeom>
          <a:solidFill>
            <a:srgbClr val="DE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1179576"/>
            <a:ext cx="45720" cy="457200"/>
          </a:xfrm>
          <a:prstGeom prst="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79576"/>
            <a:ext cx="108475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73649"/>
                </a:solidFill>
                <a:latin typeface="微软雅黑"/>
              </a:rPr>
              <a:t>精细化运营不是增加台账，而是让每一轮运行都产生数据，每一次复盘都能够改变下一轮规则和资源投入。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86784" y="2304288"/>
            <a:ext cx="2415275" cy="676656"/>
          </a:xfrm>
          <a:prstGeom prst="line">
            <a:avLst/>
          </a:prstGeom>
          <a:ln w="20320">
            <a:solidFill>
              <a:srgbClr val="DE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2059" y="2980944"/>
            <a:ext cx="0" cy="1353312"/>
          </a:xfrm>
          <a:prstGeom prst="line">
            <a:avLst/>
          </a:prstGeom>
          <a:ln w="20320">
            <a:solidFill>
              <a:srgbClr val="DE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986784" y="4334256"/>
            <a:ext cx="2415275" cy="676656"/>
          </a:xfrm>
          <a:prstGeom prst="line">
            <a:avLst/>
          </a:prstGeom>
          <a:ln w="20320">
            <a:solidFill>
              <a:srgbClr val="DE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1571508" y="4334256"/>
            <a:ext cx="2415276" cy="676656"/>
          </a:xfrm>
          <a:prstGeom prst="line">
            <a:avLst/>
          </a:prstGeom>
          <a:ln w="20320">
            <a:solidFill>
              <a:srgbClr val="DE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571508" y="2980944"/>
            <a:ext cx="0" cy="1353312"/>
          </a:xfrm>
          <a:prstGeom prst="line">
            <a:avLst/>
          </a:prstGeom>
          <a:ln w="20320">
            <a:solidFill>
              <a:srgbClr val="DE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71508" y="2304288"/>
            <a:ext cx="2415276" cy="676656"/>
          </a:xfrm>
          <a:prstGeom prst="line">
            <a:avLst/>
          </a:prstGeom>
          <a:ln w="20320">
            <a:solidFill>
              <a:srgbClr val="DE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419856" y="3090672"/>
            <a:ext cx="1133856" cy="1133856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9856" y="3529584"/>
            <a:ext cx="1133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5F0"/>
                </a:solidFill>
                <a:latin typeface="Consolas"/>
              </a:rPr>
              <a:t>MTL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3712464"/>
            <a:ext cx="113385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7F5F0"/>
                </a:solidFill>
                <a:latin typeface="微软雅黑"/>
              </a:rPr>
              <a:t>持续调优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95244" y="1883664"/>
            <a:ext cx="1783080" cy="84124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159252" y="1947672"/>
            <a:ext cx="274320" cy="274320"/>
          </a:xfrm>
          <a:prstGeom prst="ellipse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9252" y="19476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7F5F0"/>
                </a:solidFill>
                <a:latin typeface="Consola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9292" y="196596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A38"/>
                </a:solidFill>
                <a:latin typeface="微软雅黑"/>
              </a:rPr>
              <a:t>信息入池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1548" y="2267712"/>
            <a:ext cx="1508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46070"/>
                </a:solidFill>
                <a:latin typeface="微软雅黑"/>
              </a:rPr>
              <a:t>统一来源、时间和证据。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10519" y="2560320"/>
            <a:ext cx="1783080" cy="84124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74527" y="2624328"/>
            <a:ext cx="274320" cy="274320"/>
          </a:xfrm>
          <a:prstGeom prst="ellipse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4527" y="262432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7F5F0"/>
                </a:solidFill>
                <a:latin typeface="Consola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4567" y="2642616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A38"/>
                </a:solidFill>
                <a:latin typeface="微软雅黑"/>
              </a:rPr>
              <a:t>线索分级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56823" y="2944368"/>
            <a:ext cx="1508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46070"/>
                </a:solidFill>
                <a:latin typeface="微软雅黑"/>
              </a:rPr>
              <a:t>初步、培育、合格、重点机会。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10519" y="3913632"/>
            <a:ext cx="1783080" cy="84124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74527" y="3977640"/>
            <a:ext cx="274320" cy="274320"/>
          </a:xfrm>
          <a:prstGeom prst="ellipse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4527" y="39776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7F5F0"/>
                </a:solidFill>
                <a:latin typeface="Consola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4567" y="399592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A38"/>
                </a:solidFill>
                <a:latin typeface="微软雅黑"/>
              </a:rPr>
              <a:t>跟进运行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56823" y="4297680"/>
            <a:ext cx="1508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46070"/>
                </a:solidFill>
                <a:latin typeface="微软雅黑"/>
              </a:rPr>
              <a:t>责任人、下一步、计划时间和更新记录。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95244" y="4590288"/>
            <a:ext cx="1783080" cy="84124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59252" y="4654296"/>
            <a:ext cx="274320" cy="274320"/>
          </a:xfrm>
          <a:prstGeom prst="ellipse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9252" y="46542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7F5F0"/>
                </a:solidFill>
                <a:latin typeface="Consola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9292" y="4672584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A38"/>
                </a:solidFill>
                <a:latin typeface="微软雅黑"/>
              </a:rPr>
              <a:t>结果记录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1548" y="4974336"/>
            <a:ext cx="1508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46070"/>
                </a:solidFill>
                <a:latin typeface="微软雅黑"/>
              </a:rPr>
              <a:t>推进、停滞、移交、回流或关闭。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9968" y="3913632"/>
            <a:ext cx="1783080" cy="84124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43976" y="3977640"/>
            <a:ext cx="274320" cy="274320"/>
          </a:xfrm>
          <a:prstGeom prst="ellipse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3976" y="39776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7F5F0"/>
                </a:solidFill>
                <a:latin typeface="Consolas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4016" y="399592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A38"/>
                </a:solidFill>
                <a:latin typeface="微软雅黑"/>
              </a:rPr>
              <a:t>月度复盘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272" y="4297680"/>
            <a:ext cx="1508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46070"/>
                </a:solidFill>
                <a:latin typeface="微软雅黑"/>
              </a:rPr>
              <a:t>分析渠道质量、成熟度变化和问题原因。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9968" y="2560320"/>
            <a:ext cx="1783080" cy="84124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43976" y="2624328"/>
            <a:ext cx="274320" cy="274320"/>
          </a:xfrm>
          <a:prstGeom prst="ellipse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3976" y="262432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7F5F0"/>
                </a:solidFill>
                <a:latin typeface="Consolas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4016" y="2642616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A38"/>
                </a:solidFill>
                <a:latin typeface="微软雅黑"/>
              </a:rPr>
              <a:t>规则调优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272" y="2944368"/>
            <a:ext cx="1508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46070"/>
                </a:solidFill>
                <a:latin typeface="微软雅黑"/>
              </a:rPr>
              <a:t>调整字段、分级标准、渠道投入和协同方式。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35824" y="1783080"/>
            <a:ext cx="39438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A506B"/>
                </a:solidFill>
                <a:latin typeface="微软雅黑"/>
              </a:rPr>
              <a:t>运行载体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35824" y="2148840"/>
            <a:ext cx="3943807" cy="749808"/>
          </a:xfrm>
          <a:prstGeom prst="roundRect">
            <a:avLst/>
          </a:prstGeom>
          <a:solidFill>
            <a:srgbClr val="EC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00416" y="2221992"/>
            <a:ext cx="361462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2A38"/>
                </a:solidFill>
                <a:latin typeface="微软雅黑"/>
              </a:rPr>
              <a:t>六池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0416" y="2478024"/>
            <a:ext cx="3614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46070"/>
                </a:solidFill>
                <a:latin typeface="微软雅黑"/>
              </a:rPr>
              <a:t>结构化经营数据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35824" y="2990088"/>
            <a:ext cx="3943807" cy="749808"/>
          </a:xfrm>
          <a:prstGeom prst="roundRect">
            <a:avLst/>
          </a:prstGeom>
          <a:solidFill>
            <a:srgbClr val="EC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00416" y="3063240"/>
            <a:ext cx="361462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2A38"/>
                </a:solidFill>
                <a:latin typeface="微软雅黑"/>
              </a:rPr>
              <a:t>市场月例会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0416" y="3319272"/>
            <a:ext cx="3614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46070"/>
                </a:solidFill>
                <a:latin typeface="微软雅黑"/>
              </a:rPr>
              <a:t>诊断和优先级调整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35824" y="3831336"/>
            <a:ext cx="3943807" cy="749808"/>
          </a:xfrm>
          <a:prstGeom prst="roundRect">
            <a:avLst/>
          </a:prstGeom>
          <a:solidFill>
            <a:srgbClr val="EC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00416" y="3904488"/>
            <a:ext cx="361462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2A38"/>
                </a:solidFill>
                <a:latin typeface="微软雅黑"/>
              </a:rPr>
              <a:t>任务平台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0416" y="4160520"/>
            <a:ext cx="3614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46070"/>
                </a:solidFill>
                <a:latin typeface="微软雅黑"/>
              </a:rPr>
              <a:t>责任、节点和状态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35824" y="4672584"/>
            <a:ext cx="3943807" cy="749808"/>
          </a:xfrm>
          <a:prstGeom prst="roundRect">
            <a:avLst/>
          </a:prstGeom>
          <a:solidFill>
            <a:srgbClr val="EC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00416" y="4745736"/>
            <a:ext cx="361462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2A38"/>
                </a:solidFill>
                <a:latin typeface="微软雅黑"/>
              </a:rPr>
              <a:t>知识平台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00416" y="5001768"/>
            <a:ext cx="3614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46070"/>
                </a:solidFill>
                <a:latin typeface="微软雅黑"/>
              </a:rPr>
              <a:t>模板、版本、复盘和规则沉淀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" y="5833872"/>
            <a:ext cx="11167567" cy="566928"/>
          </a:xfrm>
          <a:prstGeom prst="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8096" y="5833872"/>
            <a:ext cx="1065550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5F0"/>
                </a:solidFill>
                <a:latin typeface="微软雅黑"/>
              </a:rPr>
              <a:t>台账记录事实，复盘发现规律，调优改变下一轮行动。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12064" y="6528816"/>
            <a:ext cx="11167567" cy="0"/>
          </a:xfrm>
          <a:prstGeom prst="line">
            <a:avLst/>
          </a:prstGeom>
          <a:ln w="9525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12064" y="657453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遨海科技市场部 · 2026 年半年工作总结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82351" y="657453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8F98"/>
                </a:solidFill>
                <a:latin typeface="Consolas"/>
              </a:rPr>
              <a:t>09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308031" y="274320"/>
            <a:ext cx="1371600" cy="292608"/>
          </a:xfrm>
          <a:prstGeom prst="rect">
            <a:avLst/>
          </a:prstGeom>
          <a:noFill/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08031" y="274320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46070"/>
                </a:solidFill>
                <a:latin typeface="微软雅黑"/>
              </a:rPr>
              <a:t>遨海科技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21792"/>
            <a:ext cx="11167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E2A38"/>
                </a:solidFill>
                <a:latin typeface="微软雅黑"/>
              </a:rPr>
              <a:t>先把每条线索记录清楚，才能判断问题出在哪里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179576"/>
            <a:ext cx="11167567" cy="457200"/>
          </a:xfrm>
          <a:prstGeom prst="rect">
            <a:avLst/>
          </a:prstGeom>
          <a:solidFill>
            <a:srgbClr val="DE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1179576"/>
            <a:ext cx="45720" cy="457200"/>
          </a:xfrm>
          <a:prstGeom prst="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79576"/>
            <a:ext cx="108475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73649"/>
                </a:solidFill>
                <a:latin typeface="微软雅黑"/>
              </a:rPr>
              <a:t>下半年不追求虚高线索数量，先保证每条线索有来源、有阶段、有动作、有时间、有价值判断。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1783080"/>
            <a:ext cx="5120640" cy="370332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83080"/>
            <a:ext cx="5120640" cy="365760"/>
          </a:xfrm>
          <a:prstGeom prst="round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1965960"/>
            <a:ext cx="5120640" cy="182880"/>
          </a:xfrm>
          <a:prstGeom prst="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783080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7F5F0"/>
                </a:solidFill>
                <a:latin typeface="微软雅黑"/>
              </a:rPr>
              <a:t>线索对象详情页 · 字段标准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" y="2468227"/>
            <a:ext cx="91440" cy="91440"/>
          </a:xfrm>
          <a:prstGeom prst="ellipse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295144"/>
            <a:ext cx="4480560" cy="4376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A38"/>
                </a:solidFill>
                <a:latin typeface="微软雅黑"/>
              </a:rPr>
              <a:t>来源渠道与原始证据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4944" y="2732750"/>
            <a:ext cx="4754880" cy="0"/>
          </a:xfrm>
          <a:prstGeom prst="line">
            <a:avLst/>
          </a:prstGeom>
          <a:ln w="7620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40664" y="2905833"/>
            <a:ext cx="91440" cy="91440"/>
          </a:xfrm>
          <a:prstGeom prst="ellipse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732750"/>
            <a:ext cx="4480560" cy="4376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A38"/>
                </a:solidFill>
                <a:latin typeface="微软雅黑"/>
              </a:rPr>
              <a:t>客户、需求方向和适配产品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4944" y="3170355"/>
            <a:ext cx="4754880" cy="0"/>
          </a:xfrm>
          <a:prstGeom prst="line">
            <a:avLst/>
          </a:prstGeom>
          <a:ln w="7620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40664" y="3343438"/>
            <a:ext cx="91440" cy="91440"/>
          </a:xfrm>
          <a:prstGeom prst="ellipse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70355"/>
            <a:ext cx="4480560" cy="4376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A38"/>
                </a:solidFill>
                <a:latin typeface="微软雅黑"/>
              </a:rPr>
              <a:t>当前阶段与阶段变化日期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4944" y="3607961"/>
            <a:ext cx="4754880" cy="0"/>
          </a:xfrm>
          <a:prstGeom prst="line">
            <a:avLst/>
          </a:prstGeom>
          <a:ln w="7620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40664" y="3781044"/>
            <a:ext cx="91440" cy="91440"/>
          </a:xfrm>
          <a:prstGeom prst="ellipse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607961"/>
            <a:ext cx="4480560" cy="4376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A38"/>
                </a:solidFill>
                <a:latin typeface="微软雅黑"/>
              </a:rPr>
              <a:t>责任人、下一步动作和计划时间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4944" y="4045567"/>
            <a:ext cx="4754880" cy="0"/>
          </a:xfrm>
          <a:prstGeom prst="line">
            <a:avLst/>
          </a:prstGeom>
          <a:ln w="7620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40664" y="4218650"/>
            <a:ext cx="91440" cy="91440"/>
          </a:xfrm>
          <a:prstGeom prst="ellipse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045567"/>
            <a:ext cx="4480560" cy="4376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A38"/>
                </a:solidFill>
                <a:latin typeface="微软雅黑"/>
              </a:rPr>
              <a:t>预算或资金来源、采购范围和立项状态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4944" y="4483173"/>
            <a:ext cx="4754880" cy="0"/>
          </a:xfrm>
          <a:prstGeom prst="line">
            <a:avLst/>
          </a:prstGeom>
          <a:ln w="7620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40664" y="4656255"/>
            <a:ext cx="91440" cy="91440"/>
          </a:xfrm>
          <a:prstGeom prst="ellipse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483173"/>
            <a:ext cx="4480560" cy="4376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A38"/>
                </a:solidFill>
                <a:latin typeface="微软雅黑"/>
              </a:rPr>
              <a:t>金额或金额区间；无法估值时记录原因和补全动作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4944" y="4920778"/>
            <a:ext cx="4754880" cy="0"/>
          </a:xfrm>
          <a:prstGeom prst="line">
            <a:avLst/>
          </a:prstGeom>
          <a:ln w="7620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40664" y="5093861"/>
            <a:ext cx="91440" cy="91440"/>
          </a:xfrm>
          <a:prstGeom prst="ellipse">
            <a:avLst/>
          </a:prstGeom>
          <a:solidFill>
            <a:srgbClr val="5B9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920778"/>
            <a:ext cx="4480560" cy="4376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A38"/>
                </a:solidFill>
                <a:latin typeface="微软雅黑"/>
              </a:rPr>
              <a:t>移交、接收、回流或关闭状态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52744" y="1783080"/>
            <a:ext cx="57268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A506B"/>
                </a:solidFill>
                <a:latin typeface="微软雅黑"/>
              </a:rPr>
              <a:t>三项管理规则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52744" y="2130552"/>
            <a:ext cx="5726887" cy="530352"/>
          </a:xfrm>
          <a:prstGeom prst="roundRect">
            <a:avLst/>
          </a:prstGeom>
          <a:solidFill>
            <a:srgbClr val="DE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71616" y="2258568"/>
            <a:ext cx="274320" cy="274320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71616" y="22585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7F5F0"/>
                </a:solidFill>
                <a:latin typeface="Consolas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9944" y="2130552"/>
            <a:ext cx="5123383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73649"/>
                </a:solidFill>
                <a:latin typeface="微软雅黑"/>
              </a:rPr>
              <a:t>无下一步，不算持续跟进。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52744" y="2770632"/>
            <a:ext cx="5726887" cy="530352"/>
          </a:xfrm>
          <a:prstGeom prst="roundRect">
            <a:avLst/>
          </a:prstGeom>
          <a:solidFill>
            <a:srgbClr val="DE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71616" y="2898648"/>
            <a:ext cx="274320" cy="274320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71616" y="289864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7F5F0"/>
                </a:solidFill>
                <a:latin typeface="Consolas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9944" y="2770632"/>
            <a:ext cx="5123383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73649"/>
                </a:solidFill>
                <a:latin typeface="微软雅黑"/>
              </a:rPr>
              <a:t>无计划时间，必须进入月度异常清单。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52744" y="3410712"/>
            <a:ext cx="5726887" cy="530352"/>
          </a:xfrm>
          <a:prstGeom prst="roundRect">
            <a:avLst/>
          </a:prstGeom>
          <a:solidFill>
            <a:srgbClr val="DE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071616" y="3538728"/>
            <a:ext cx="274320" cy="274320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71616" y="353872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7F5F0"/>
                </a:solidFill>
                <a:latin typeface="Consolas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9944" y="3410712"/>
            <a:ext cx="5123383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73649"/>
                </a:solidFill>
                <a:latin typeface="微软雅黑"/>
              </a:rPr>
              <a:t>无法估值可以存在，但必须说明缺什么、由谁补、何时再判断。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52744" y="4142232"/>
            <a:ext cx="57268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A506B"/>
                </a:solidFill>
                <a:latin typeface="微软雅黑"/>
              </a:rPr>
              <a:t>阶段目标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52744" y="4453128"/>
            <a:ext cx="5726887" cy="56692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99048" y="4507992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B9E9A"/>
                </a:solidFill>
                <a:latin typeface="Consolas"/>
              </a:rPr>
              <a:t>7 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9048" y="4745736"/>
            <a:ext cx="54342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46070"/>
                </a:solidFill>
                <a:latin typeface="微软雅黑"/>
              </a:rPr>
              <a:t>完成 9 条存量线索的数据回填和重新分级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52744" y="5111496"/>
            <a:ext cx="5726887" cy="56692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99048" y="516636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B9E9A"/>
                </a:solidFill>
                <a:latin typeface="Consolas"/>
              </a:rPr>
              <a:t>8 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99048" y="5404104"/>
            <a:ext cx="54342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46070"/>
                </a:solidFill>
                <a:latin typeface="微软雅黑"/>
              </a:rPr>
              <a:t>形成第一版线索金额及成熟度基线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52744" y="5769864"/>
            <a:ext cx="5726887" cy="56692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99048" y="5824728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B9E9A"/>
                </a:solidFill>
                <a:latin typeface="Consolas"/>
              </a:rPr>
              <a:t>9 月起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99048" y="6062472"/>
            <a:ext cx="54342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46070"/>
                </a:solidFill>
                <a:latin typeface="微软雅黑"/>
              </a:rPr>
              <a:t>所有新增线索按统一规则运行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12064" y="6528816"/>
            <a:ext cx="11167567" cy="0"/>
          </a:xfrm>
          <a:prstGeom prst="line">
            <a:avLst/>
          </a:prstGeom>
          <a:ln w="9525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12064" y="657453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遨海科技市场部 · 2026 年半年工作总结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82351" y="657453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8F98"/>
                </a:solidFill>
                <a:latin typeface="Consolas"/>
              </a:rPr>
              <a:t>10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308031" y="274320"/>
            <a:ext cx="1371600" cy="292608"/>
          </a:xfrm>
          <a:prstGeom prst="rect">
            <a:avLst/>
          </a:prstGeom>
          <a:noFill/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08031" y="274320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46070"/>
                </a:solidFill>
                <a:latin typeface="微软雅黑"/>
              </a:rPr>
              <a:t>遨海科技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21792"/>
            <a:ext cx="11167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E2A38"/>
                </a:solidFill>
                <a:latin typeface="微软雅黑"/>
              </a:rPr>
              <a:t>不只看渠道带来多少线索，更要看线索质量和推进结果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179576"/>
            <a:ext cx="11167567" cy="457200"/>
          </a:xfrm>
          <a:prstGeom prst="rect">
            <a:avLst/>
          </a:prstGeom>
          <a:solidFill>
            <a:srgbClr val="DE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1179576"/>
            <a:ext cx="45720" cy="457200"/>
          </a:xfrm>
          <a:prstGeom prst="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79576"/>
            <a:ext cx="108475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73649"/>
                </a:solidFill>
                <a:latin typeface="微软雅黑"/>
              </a:rPr>
              <a:t>渠道投入依据真实产出动态调整：比较不同渠道的有效率、成熟度、推进速度、价值信息和移交结果。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12064" y="1783080"/>
          <a:ext cx="11167566" cy="1965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2101"/>
                <a:gridCol w="8065465"/>
              </a:tblGrid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7F5F0"/>
                          </a:solidFill>
                          <a:latin typeface="微软雅黑"/>
                        </a:rPr>
                        <a:t>评价维度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3A50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7F5F0"/>
                          </a:solidFill>
                          <a:latin typeface="微软雅黑"/>
                        </a:rPr>
                        <a:t>回答的问题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3A506B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A38"/>
                          </a:solidFill>
                          <a:latin typeface="微软雅黑"/>
                        </a:rPr>
                        <a:t>有效线索数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A38"/>
                          </a:solidFill>
                          <a:latin typeface="微软雅黑"/>
                        </a:rPr>
                        <a:t>渠道有没有产出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CFBF8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A38"/>
                          </a:solidFill>
                          <a:latin typeface="微软雅黑"/>
                        </a:rPr>
                        <a:t>成熟度分布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A38"/>
                          </a:solidFill>
                          <a:latin typeface="微软雅黑"/>
                        </a:rPr>
                        <a:t>带来的只是信息，还是可推进机会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7F5F0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A38"/>
                          </a:solidFill>
                          <a:latin typeface="微软雅黑"/>
                        </a:rPr>
                        <a:t>下一步及时率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A38"/>
                          </a:solidFill>
                          <a:latin typeface="微软雅黑"/>
                        </a:rPr>
                        <a:t>线索能不能进入行动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CFBF8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A38"/>
                          </a:solidFill>
                          <a:latin typeface="微软雅黑"/>
                        </a:rPr>
                        <a:t>价值评估覆盖率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A38"/>
                          </a:solidFill>
                          <a:latin typeface="微软雅黑"/>
                        </a:rPr>
                        <a:t>能不能判断金额和优先级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7F5F0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A38"/>
                          </a:solidFill>
                          <a:latin typeface="微软雅黑"/>
                        </a:rPr>
                        <a:t>移交与后续状态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A38"/>
                          </a:solidFill>
                          <a:latin typeface="微软雅黑"/>
                        </a:rPr>
                        <a:t>线索有没有被组织承接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12064" y="3986784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A506B"/>
                </a:solidFill>
                <a:latin typeface="微软雅黑"/>
              </a:rPr>
              <a:t>下半年重点渠道动作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" y="5340096"/>
            <a:ext cx="11167567" cy="347472"/>
          </a:xfrm>
          <a:prstGeom prst="round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5340096"/>
            <a:ext cx="11167567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7F5F0"/>
                </a:solidFill>
                <a:latin typeface="微软雅黑"/>
              </a:rPr>
              <a:t>渠道质量评估台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" y="4279392"/>
            <a:ext cx="2123785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4334256"/>
            <a:ext cx="194090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2A38"/>
                </a:solidFill>
                <a:latin typeface="微软雅黑"/>
              </a:rPr>
              <a:t>管理层转入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4572000"/>
            <a:ext cx="194090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46070"/>
                </a:solidFill>
                <a:latin typeface="微软雅黑"/>
              </a:rPr>
              <a:t>规范承接和反馈，确保重要线索及时形成动作。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73957" y="5193792"/>
            <a:ext cx="0" cy="146304"/>
          </a:xfrm>
          <a:prstGeom prst="line">
            <a:avLst/>
          </a:prstGeom>
          <a:ln w="12700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73009" y="4279392"/>
            <a:ext cx="2123785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64449" y="4334256"/>
            <a:ext cx="194090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2A38"/>
                </a:solidFill>
                <a:latin typeface="微软雅黑"/>
              </a:rPr>
              <a:t>市场部主动开发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4449" y="4572000"/>
            <a:ext cx="194090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46070"/>
                </a:solidFill>
                <a:latin typeface="微软雅黑"/>
              </a:rPr>
              <a:t>复盘 3 条线索来源，形成可复制的触达方式。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34902" y="5193792"/>
            <a:ext cx="0" cy="146304"/>
          </a:xfrm>
          <a:prstGeom prst="line">
            <a:avLst/>
          </a:prstGeom>
          <a:ln w="12700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33955" y="4279392"/>
            <a:ext cx="2123785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5395" y="4334256"/>
            <a:ext cx="194090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2A38"/>
                </a:solidFill>
                <a:latin typeface="微软雅黑"/>
              </a:rPr>
              <a:t>销售与既有客户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5395" y="4572000"/>
            <a:ext cx="194090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46070"/>
                </a:solidFill>
                <a:latin typeface="微软雅黑"/>
              </a:rPr>
              <a:t>建立统一线索入口和双向状态反馈。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5848" y="5193792"/>
            <a:ext cx="0" cy="146304"/>
          </a:xfrm>
          <a:prstGeom prst="line">
            <a:avLst/>
          </a:prstGeom>
          <a:ln w="12700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94900" y="4279392"/>
            <a:ext cx="2123785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86340" y="4334256"/>
            <a:ext cx="194090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2A38"/>
                </a:solidFill>
                <a:latin typeface="微软雅黑"/>
              </a:rPr>
              <a:t>合作伙伴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6340" y="4572000"/>
            <a:ext cx="194090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46070"/>
                </a:solidFill>
                <a:latin typeface="微软雅黑"/>
              </a:rPr>
              <a:t>明确价值交换内容、唯一对接人和真实线索产出。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56793" y="5193792"/>
            <a:ext cx="0" cy="146304"/>
          </a:xfrm>
          <a:prstGeom prst="line">
            <a:avLst/>
          </a:prstGeom>
          <a:ln w="12700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555846" y="4279392"/>
            <a:ext cx="2123785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7286" y="4334256"/>
            <a:ext cx="194090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2A38"/>
                </a:solidFill>
                <a:latin typeface="微软雅黑"/>
              </a:rPr>
              <a:t>政策与前置信息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7286" y="4572000"/>
            <a:ext cx="194090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46070"/>
                </a:solidFill>
                <a:latin typeface="微软雅黑"/>
              </a:rPr>
              <a:t>跟踪重点主体、政策规划和公开标准，改善 0/6 的标讯前置识别。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617738" y="5193792"/>
            <a:ext cx="0" cy="146304"/>
          </a:xfrm>
          <a:prstGeom prst="line">
            <a:avLst/>
          </a:prstGeom>
          <a:ln w="12700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12064" y="5650992"/>
            <a:ext cx="11167567" cy="566928"/>
          </a:xfrm>
          <a:prstGeom prst="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650992"/>
            <a:ext cx="1065550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5F0"/>
                </a:solidFill>
                <a:latin typeface="微软雅黑"/>
              </a:rPr>
              <a:t>高质量渠道增加投入；长期只有信息、没有推进的渠道降低优先级；渠道规则按月复盘、按季度调整。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12064" y="6528816"/>
            <a:ext cx="11167567" cy="0"/>
          </a:xfrm>
          <a:prstGeom prst="line">
            <a:avLst/>
          </a:prstGeom>
          <a:ln w="9525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12064" y="657453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遨海科技市场部 · 2026 年半年工作总结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82351" y="657453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8F98"/>
                </a:solidFill>
                <a:latin typeface="Consolas"/>
              </a:rPr>
              <a:t>11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308031" y="274320"/>
            <a:ext cx="1371600" cy="292608"/>
          </a:xfrm>
          <a:prstGeom prst="rect">
            <a:avLst/>
          </a:prstGeom>
          <a:noFill/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08031" y="274320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46070"/>
                </a:solidFill>
                <a:latin typeface="微软雅黑"/>
              </a:rPr>
              <a:t>遨海科技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21792"/>
            <a:ext cx="11167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2A38"/>
                </a:solidFill>
                <a:latin typeface="微软雅黑"/>
              </a:rPr>
              <a:t>每月复盘运行，每季度调整规则，年底形成可验证的 MTL 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179576"/>
            <a:ext cx="11167567" cy="457200"/>
          </a:xfrm>
          <a:prstGeom prst="rect">
            <a:avLst/>
          </a:prstGeom>
          <a:solidFill>
            <a:srgbClr val="DE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1179576"/>
            <a:ext cx="45720" cy="457200"/>
          </a:xfrm>
          <a:prstGeom prst="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79576"/>
            <a:ext cx="108475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73649"/>
                </a:solidFill>
                <a:latin typeface="微软雅黑"/>
              </a:rPr>
              <a:t>下半年验收的不是表格数量，而是数据完整、问题可追溯、规则有调整、线索有进展。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783080"/>
            <a:ext cx="4160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A506B"/>
                </a:solidFill>
                <a:latin typeface="微软雅黑"/>
              </a:rPr>
              <a:t>月度复盘固定议题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" y="2075688"/>
            <a:ext cx="4160520" cy="324612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" y="2306247"/>
            <a:ext cx="256032" cy="256032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306247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7F5F0"/>
                </a:solidFill>
                <a:latin typeface="Consola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21992"/>
            <a:ext cx="3474720" cy="4245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A38"/>
                </a:solidFill>
                <a:latin typeface="微软雅黑"/>
              </a:rPr>
              <a:t>新增信息和有效线索来自哪些渠道。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" y="2730790"/>
            <a:ext cx="256032" cy="256032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73079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7F5F0"/>
                </a:solidFill>
                <a:latin typeface="Consola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646535"/>
            <a:ext cx="3474720" cy="4245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A38"/>
                </a:solidFill>
                <a:latin typeface="微软雅黑"/>
              </a:rPr>
              <a:t>线索阶段发生了什么变化。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" y="3155333"/>
            <a:ext cx="256032" cy="256032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315533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7F5F0"/>
                </a:solidFill>
                <a:latin typeface="Consola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071078"/>
            <a:ext cx="3474720" cy="4245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A38"/>
                </a:solidFill>
                <a:latin typeface="微软雅黑"/>
              </a:rPr>
              <a:t>哪些线索缺动作、缺时间或长期停滞。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" y="3579876"/>
            <a:ext cx="256032" cy="256032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579876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7F5F0"/>
                </a:solidFill>
                <a:latin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495621"/>
            <a:ext cx="3474720" cy="4245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A38"/>
                </a:solidFill>
                <a:latin typeface="微软雅黑"/>
              </a:rPr>
              <a:t>哪些信息已经完成金额或价值判断。</a:t>
            </a:r>
          </a:p>
        </p:txBody>
      </p:sp>
      <p:sp>
        <p:nvSpPr>
          <p:cNvPr id="23" name="Oval 22"/>
          <p:cNvSpPr/>
          <p:nvPr/>
        </p:nvSpPr>
        <p:spPr>
          <a:xfrm>
            <a:off x="676656" y="4004419"/>
            <a:ext cx="256032" cy="256032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4004419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7F5F0"/>
                </a:solidFill>
                <a:latin typeface="Consola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920163"/>
            <a:ext cx="3474720" cy="4245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A38"/>
                </a:solidFill>
                <a:latin typeface="微软雅黑"/>
              </a:rPr>
              <a:t>哪些线索发生移交、回流或关闭。</a:t>
            </a:r>
          </a:p>
        </p:txBody>
      </p:sp>
      <p:sp>
        <p:nvSpPr>
          <p:cNvPr id="26" name="Oval 25"/>
          <p:cNvSpPr/>
          <p:nvPr/>
        </p:nvSpPr>
        <p:spPr>
          <a:xfrm>
            <a:off x="676656" y="4428962"/>
            <a:ext cx="256032" cy="256032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42896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7F5F0"/>
                </a:solidFill>
                <a:latin typeface="Consola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344706"/>
            <a:ext cx="3474720" cy="4245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A38"/>
                </a:solidFill>
                <a:latin typeface="微软雅黑"/>
              </a:rPr>
              <a:t>标讯 No-Go 和停滞原因如何分布。</a:t>
            </a:r>
          </a:p>
        </p:txBody>
      </p:sp>
      <p:sp>
        <p:nvSpPr>
          <p:cNvPr id="29" name="Oval 28"/>
          <p:cNvSpPr/>
          <p:nvPr/>
        </p:nvSpPr>
        <p:spPr>
          <a:xfrm>
            <a:off x="676656" y="4853505"/>
            <a:ext cx="256032" cy="256032"/>
          </a:xfrm>
          <a:prstGeom prst="ellipse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4853505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7F5F0"/>
                </a:solidFill>
                <a:latin typeface="Consolas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769249"/>
            <a:ext cx="3474720" cy="4245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A38"/>
                </a:solidFill>
                <a:latin typeface="微软雅黑"/>
              </a:rPr>
              <a:t>下个月需要调整哪些规则和资源。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65192" y="1783080"/>
            <a:ext cx="67144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A506B"/>
                </a:solidFill>
                <a:latin typeface="微软雅黑"/>
              </a:rPr>
              <a:t>里程碑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4965192" y="2075688"/>
          <a:ext cx="6714438" cy="1783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5121"/>
                <a:gridCol w="4849317"/>
              </a:tblGrid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7F5F0"/>
                          </a:solidFill>
                          <a:latin typeface="微软雅黑"/>
                        </a:rPr>
                        <a:t>时间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3A50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7F5F0"/>
                          </a:solidFill>
                          <a:latin typeface="微软雅黑"/>
                        </a:rPr>
                        <a:t>交付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3A506B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1E2A38"/>
                          </a:solidFill>
                          <a:latin typeface="微软雅黑"/>
                        </a:rPr>
                        <a:t>7 月底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1E2A38"/>
                          </a:solidFill>
                          <a:latin typeface="微软雅黑"/>
                        </a:rPr>
                        <a:t>9 条存量线索回填、重新分级；6 项 No-Go 原因完成分类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CFBF8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1E2A38"/>
                          </a:solidFill>
                          <a:latin typeface="微软雅黑"/>
                        </a:rPr>
                        <a:t>8 月底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1E2A38"/>
                          </a:solidFill>
                          <a:latin typeface="微软雅黑"/>
                        </a:rPr>
                        <a:t>第一版线索金额与成熟度基线；工作界面试运行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7F5F0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1E2A38"/>
                          </a:solidFill>
                          <a:latin typeface="微软雅黑"/>
                        </a:rPr>
                        <a:t>9 月起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1E2A38"/>
                          </a:solidFill>
                          <a:latin typeface="微软雅黑"/>
                        </a:rPr>
                        <a:t>月度渠道质量和前置识别指标可测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CFBF8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1E2A38"/>
                          </a:solidFill>
                          <a:latin typeface="微软雅黑"/>
                        </a:rPr>
                        <a:t>Q4  v1.0→v1.2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1E2A38"/>
                          </a:solidFill>
                          <a:latin typeface="微软雅黑"/>
                        </a:rPr>
                        <a:t>完成至少 2-3 轮规则或资源调优，并保留调整记录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7F5F0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1E2A38"/>
                          </a:solidFill>
                          <a:latin typeface="微软雅黑"/>
                        </a:rPr>
                        <a:t>年底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1E2A38"/>
                          </a:solidFill>
                          <a:latin typeface="微软雅黑"/>
                        </a:rPr>
                        <a:t>形成 MTL 年度运行报告和 2027 目标建议</a:t>
                      </a:r>
                    </a:p>
                  </a:txBody>
                  <a:tcPr marL="101600" marR="101600" marT="50800" marB="50800" anchor="ctr">
                    <a:lnL w="6350" cap="flat">
                      <a:solidFill>
                        <a:srgbClr val="DFD9CB"/>
                      </a:solidFill>
                    </a:lnL>
                    <a:lnR w="6350" cap="flat">
                      <a:solidFill>
                        <a:srgbClr val="DFD9CB"/>
                      </a:solidFill>
                    </a:lnR>
                    <a:lnT w="6350" cap="flat">
                      <a:solidFill>
                        <a:srgbClr val="DFD9CB"/>
                      </a:solidFill>
                    </a:lnT>
                    <a:lnB w="6350" cap="flat">
                      <a:solidFill>
                        <a:srgbClr val="DFD9CB"/>
                      </a:solidFill>
                    </a:lnB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965192" y="4059936"/>
            <a:ext cx="6714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A506B"/>
                </a:solidFill>
                <a:latin typeface="微软雅黑"/>
              </a:rPr>
              <a:t>年底六项交付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65192" y="4334256"/>
            <a:ext cx="3302356" cy="384048"/>
          </a:xfrm>
          <a:prstGeom prst="roundRect">
            <a:avLst/>
          </a:prstGeom>
          <a:solidFill>
            <a:srgbClr val="EC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65192" y="4334256"/>
            <a:ext cx="33023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E2A38"/>
                </a:solidFill>
                <a:latin typeface="微软雅黑"/>
              </a:rPr>
              <a:t>MTL 数据字典和线索分级规则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77276" y="4334256"/>
            <a:ext cx="3302356" cy="384048"/>
          </a:xfrm>
          <a:prstGeom prst="roundRect">
            <a:avLst/>
          </a:prstGeom>
          <a:solidFill>
            <a:srgbClr val="EC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7276" y="4334256"/>
            <a:ext cx="33023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E2A38"/>
                </a:solidFill>
                <a:latin typeface="微软雅黑"/>
              </a:rPr>
              <a:t>渠道质量与贡献分析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65192" y="4809744"/>
            <a:ext cx="3302356" cy="384048"/>
          </a:xfrm>
          <a:prstGeom prst="roundRect">
            <a:avLst/>
          </a:prstGeom>
          <a:solidFill>
            <a:srgbClr val="EC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65192" y="4809744"/>
            <a:ext cx="33023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E2A38"/>
                </a:solidFill>
                <a:latin typeface="微软雅黑"/>
              </a:rPr>
              <a:t>线索成熟度和金额基线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77276" y="4809744"/>
            <a:ext cx="3302356" cy="384048"/>
          </a:xfrm>
          <a:prstGeom prst="roundRect">
            <a:avLst/>
          </a:prstGeom>
          <a:solidFill>
            <a:srgbClr val="EC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77276" y="4809744"/>
            <a:ext cx="33023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E2A38"/>
                </a:solidFill>
                <a:latin typeface="微软雅黑"/>
              </a:rPr>
              <a:t>标讯前置识别和 No-Go 原因分析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65192" y="5285232"/>
            <a:ext cx="3302356" cy="384048"/>
          </a:xfrm>
          <a:prstGeom prst="roundRect">
            <a:avLst/>
          </a:prstGeom>
          <a:solidFill>
            <a:srgbClr val="EC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65192" y="5285232"/>
            <a:ext cx="33023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E2A38"/>
                </a:solidFill>
                <a:latin typeface="微软雅黑"/>
              </a:rPr>
              <a:t>MTL/LTC 移交与回流运行记录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77276" y="5285232"/>
            <a:ext cx="3302356" cy="384048"/>
          </a:xfrm>
          <a:prstGeom prst="roundRect">
            <a:avLst/>
          </a:prstGeom>
          <a:solidFill>
            <a:srgbClr val="EC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77276" y="5285232"/>
            <a:ext cx="33023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E2A38"/>
                </a:solidFill>
                <a:latin typeface="微软雅黑"/>
              </a:rPr>
              <a:t>2-3 轮调优记录及对应效果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4" y="5833872"/>
            <a:ext cx="11167567" cy="566928"/>
          </a:xfrm>
          <a:prstGeom prst="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8096" y="5833872"/>
            <a:ext cx="1065550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5F0"/>
                </a:solidFill>
                <a:latin typeface="微软雅黑"/>
              </a:rPr>
              <a:t>年底不仅知道“有多少线索”，还要知道线索为什么来、为什么停、怎样提升。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12064" y="6528816"/>
            <a:ext cx="11167567" cy="0"/>
          </a:xfrm>
          <a:prstGeom prst="line">
            <a:avLst/>
          </a:prstGeom>
          <a:ln w="9525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12064" y="657453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遨海科技市场部 · 2026 年半年工作总结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82351" y="657453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8F98"/>
                </a:solidFill>
                <a:latin typeface="Consolas"/>
              </a:rPr>
              <a:t>12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308031" y="274320"/>
            <a:ext cx="1371600" cy="292608"/>
          </a:xfrm>
          <a:prstGeom prst="rect">
            <a:avLst/>
          </a:prstGeom>
          <a:noFill/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08031" y="274320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46070"/>
                </a:solidFill>
                <a:latin typeface="微软雅黑"/>
              </a:rPr>
              <a:t>遨海科技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21792"/>
            <a:ext cx="11167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E2A38"/>
                </a:solidFill>
                <a:latin typeface="微软雅黑"/>
              </a:rPr>
              <a:t>请管理层确认运行规则，市场部承诺按月交付真实数据和改进结果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179576"/>
            <a:ext cx="11167567" cy="457200"/>
          </a:xfrm>
          <a:prstGeom prst="rect">
            <a:avLst/>
          </a:prstGeom>
          <a:solidFill>
            <a:srgbClr val="DE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1179576"/>
            <a:ext cx="45720" cy="457200"/>
          </a:xfrm>
          <a:prstGeom prst="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79576"/>
            <a:ext cx="108475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73649"/>
                </a:solidFill>
                <a:latin typeface="微软雅黑"/>
              </a:rPr>
              <a:t>精细化运营需要明确的职责边界和工作界面；规则确认后，市场部对数据质量、复盘节奏和调优结果负责。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12064" y="1783080"/>
          <a:ext cx="11167566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83783"/>
                <a:gridCol w="5583783"/>
              </a:tblGrid>
              <a:tr h="3886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7F5F0"/>
                          </a:solidFill>
                          <a:latin typeface="微软雅黑"/>
                        </a:rPr>
                        <a:t>请管理层确认</a:t>
                      </a:r>
                    </a:p>
                  </a:txBody>
                  <a:tcPr marL="127000" marR="127000" marT="63500" marB="63500" anchor="ctr">
                    <a:lnL w="6350" cap="flat">
                      <a:solidFill>
                        <a:srgbClr val="FCFBF8"/>
                      </a:solidFill>
                    </a:lnL>
                    <a:lnR w="6350" cap="flat">
                      <a:solidFill>
                        <a:srgbClr val="FCFBF8"/>
                      </a:solidFill>
                    </a:lnR>
                    <a:lnT w="6350" cap="flat">
                      <a:solidFill>
                        <a:srgbClr val="FCFBF8"/>
                      </a:solidFill>
                    </a:lnT>
                    <a:lnB w="6350" cap="flat">
                      <a:solidFill>
                        <a:srgbClr val="FCFBF8"/>
                      </a:solidFill>
                    </a:lnB>
                    <a:solidFill>
                      <a:srgbClr val="3A50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7F5F0"/>
                          </a:solidFill>
                          <a:latin typeface="微软雅黑"/>
                        </a:rPr>
                        <a:t>市场部对等承诺</a:t>
                      </a:r>
                    </a:p>
                  </a:txBody>
                  <a:tcPr marL="127000" marR="127000" marT="63500" marB="63500" anchor="ctr">
                    <a:lnL w="6350" cap="flat">
                      <a:solidFill>
                        <a:srgbClr val="FCFBF8"/>
                      </a:solidFill>
                    </a:lnL>
                    <a:lnR w="6350" cap="flat">
                      <a:solidFill>
                        <a:srgbClr val="FCFBF8"/>
                      </a:solidFill>
                    </a:lnR>
                    <a:lnT w="6350" cap="flat">
                      <a:solidFill>
                        <a:srgbClr val="FCFBF8"/>
                      </a:solidFill>
                    </a:lnT>
                    <a:lnB w="6350" cap="flat">
                      <a:solidFill>
                        <a:srgbClr val="FCFBF8"/>
                      </a:solidFill>
                    </a:lnB>
                    <a:solidFill>
                      <a:srgbClr val="5B9E9A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E2A38"/>
                          </a:solidFill>
                          <a:latin typeface="微软雅黑"/>
                        </a:rPr>
                        <a:t>市场部 MTL 职责边界和线索等级定义</a:t>
                      </a:r>
                    </a:p>
                  </a:txBody>
                  <a:tcPr marL="127000" marR="127000" marT="63500" marB="63500" anchor="ctr">
                    <a:lnL w="6350" cap="flat">
                      <a:solidFill>
                        <a:srgbClr val="FCFBF8"/>
                      </a:solidFill>
                    </a:lnL>
                    <a:lnR w="6350" cap="flat">
                      <a:solidFill>
                        <a:srgbClr val="FCFBF8"/>
                      </a:solidFill>
                    </a:lnR>
                    <a:lnT w="6350" cap="flat">
                      <a:solidFill>
                        <a:srgbClr val="FCFBF8"/>
                      </a:solidFill>
                    </a:lnT>
                    <a:lnB w="6350" cap="flat">
                      <a:solidFill>
                        <a:srgbClr val="FCFBF8"/>
                      </a:solidFill>
                    </a:lnB>
                    <a:solidFill>
                      <a:srgbClr val="DEE4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E2A38"/>
                          </a:solidFill>
                          <a:latin typeface="微软雅黑"/>
                        </a:rPr>
                        <a:t>统一入口、统一分级，数据依据可追溯</a:t>
                      </a:r>
                    </a:p>
                  </a:txBody>
                  <a:tcPr marL="127000" marR="127000" marT="63500" marB="63500" anchor="ctr">
                    <a:lnL w="6350" cap="flat">
                      <a:solidFill>
                        <a:srgbClr val="FCFBF8"/>
                      </a:solidFill>
                    </a:lnL>
                    <a:lnR w="6350" cap="flat">
                      <a:solidFill>
                        <a:srgbClr val="FCFBF8"/>
                      </a:solidFill>
                    </a:lnR>
                    <a:lnT w="6350" cap="flat">
                      <a:solidFill>
                        <a:srgbClr val="FCFBF8"/>
                      </a:solidFill>
                    </a:lnT>
                    <a:lnB w="6350" cap="flat">
                      <a:solidFill>
                        <a:srgbClr val="FCFBF8"/>
                      </a:solidFill>
                    </a:lnB>
                    <a:solidFill>
                      <a:srgbClr val="E1EDEB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E2A38"/>
                          </a:solidFill>
                          <a:latin typeface="微软雅黑"/>
                        </a:rPr>
                        <a:t>MTL/LTC 移交、接收、回流和状态维护规则</a:t>
                      </a:r>
                    </a:p>
                  </a:txBody>
                  <a:tcPr marL="127000" marR="127000" marT="63500" marB="63500" anchor="ctr">
                    <a:lnL w="6350" cap="flat">
                      <a:solidFill>
                        <a:srgbClr val="FCFBF8"/>
                      </a:solidFill>
                    </a:lnL>
                    <a:lnR w="6350" cap="flat">
                      <a:solidFill>
                        <a:srgbClr val="FCFBF8"/>
                      </a:solidFill>
                    </a:lnR>
                    <a:lnT w="6350" cap="flat">
                      <a:solidFill>
                        <a:srgbClr val="FCFBF8"/>
                      </a:solidFill>
                    </a:lnT>
                    <a:lnB w="6350" cap="flat">
                      <a:solidFill>
                        <a:srgbClr val="FCFBF8"/>
                      </a:solidFill>
                    </a:lnB>
                    <a:solidFill>
                      <a:srgbClr val="DEE4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E2A38"/>
                          </a:solidFill>
                          <a:latin typeface="微软雅黑"/>
                        </a:rPr>
                        <a:t>按等级提供移交件，未成熟线索继续培育</a:t>
                      </a:r>
                    </a:p>
                  </a:txBody>
                  <a:tcPr marL="127000" marR="127000" marT="63500" marB="63500" anchor="ctr">
                    <a:lnL w="6350" cap="flat">
                      <a:solidFill>
                        <a:srgbClr val="FCFBF8"/>
                      </a:solidFill>
                    </a:lnL>
                    <a:lnR w="6350" cap="flat">
                      <a:solidFill>
                        <a:srgbClr val="FCFBF8"/>
                      </a:solidFill>
                    </a:lnR>
                    <a:lnT w="6350" cap="flat">
                      <a:solidFill>
                        <a:srgbClr val="FCFBF8"/>
                      </a:solidFill>
                    </a:lnT>
                    <a:lnB w="6350" cap="flat">
                      <a:solidFill>
                        <a:srgbClr val="FCFBF8"/>
                      </a:solidFill>
                    </a:lnB>
                    <a:solidFill>
                      <a:srgbClr val="E1EDEB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E2A38"/>
                          </a:solidFill>
                          <a:latin typeface="微软雅黑"/>
                        </a:rPr>
                        <a:t>产品、工程、交付的专业审核接口</a:t>
                      </a:r>
                    </a:p>
                  </a:txBody>
                  <a:tcPr marL="127000" marR="127000" marT="63500" marB="63500" anchor="ctr">
                    <a:lnL w="6350" cap="flat">
                      <a:solidFill>
                        <a:srgbClr val="FCFBF8"/>
                      </a:solidFill>
                    </a:lnL>
                    <a:lnR w="6350" cap="flat">
                      <a:solidFill>
                        <a:srgbClr val="FCFBF8"/>
                      </a:solidFill>
                    </a:lnR>
                    <a:lnT w="6350" cap="flat">
                      <a:solidFill>
                        <a:srgbClr val="FCFBF8"/>
                      </a:solidFill>
                    </a:lnT>
                    <a:lnB w="6350" cap="flat">
                      <a:solidFill>
                        <a:srgbClr val="FCFBF8"/>
                      </a:solidFill>
                    </a:lnB>
                    <a:solidFill>
                      <a:srgbClr val="DEE4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E2A38"/>
                          </a:solidFill>
                          <a:latin typeface="微软雅黑"/>
                        </a:rPr>
                        <a:t>使用标准输入、提供合理提前量、记录审核结论</a:t>
                      </a:r>
                    </a:p>
                  </a:txBody>
                  <a:tcPr marL="127000" marR="127000" marT="63500" marB="63500" anchor="ctr">
                    <a:lnL w="6350" cap="flat">
                      <a:solidFill>
                        <a:srgbClr val="FCFBF8"/>
                      </a:solidFill>
                    </a:lnL>
                    <a:lnR w="6350" cap="flat">
                      <a:solidFill>
                        <a:srgbClr val="FCFBF8"/>
                      </a:solidFill>
                    </a:lnR>
                    <a:lnT w="6350" cap="flat">
                      <a:solidFill>
                        <a:srgbClr val="FCFBF8"/>
                      </a:solidFill>
                    </a:lnT>
                    <a:lnB w="6350" cap="flat">
                      <a:solidFill>
                        <a:srgbClr val="FCFBF8"/>
                      </a:solidFill>
                    </a:lnB>
                    <a:solidFill>
                      <a:srgbClr val="E1EDEB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E2A38"/>
                          </a:solidFill>
                          <a:latin typeface="微软雅黑"/>
                        </a:rPr>
                        <a:t>北京、青岛、辽宁等区域协同口径</a:t>
                      </a:r>
                    </a:p>
                  </a:txBody>
                  <a:tcPr marL="127000" marR="127000" marT="63500" marB="63500" anchor="ctr">
                    <a:lnL w="6350" cap="flat">
                      <a:solidFill>
                        <a:srgbClr val="FCFBF8"/>
                      </a:solidFill>
                    </a:lnL>
                    <a:lnR w="6350" cap="flat">
                      <a:solidFill>
                        <a:srgbClr val="FCFBF8"/>
                      </a:solidFill>
                    </a:lnR>
                    <a:lnT w="6350" cap="flat">
                      <a:solidFill>
                        <a:srgbClr val="FCFBF8"/>
                      </a:solidFill>
                    </a:lnT>
                    <a:lnB w="6350" cap="flat">
                      <a:solidFill>
                        <a:srgbClr val="FCFBF8"/>
                      </a:solidFill>
                    </a:lnB>
                    <a:solidFill>
                      <a:srgbClr val="DEE4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E2A38"/>
                          </a:solidFill>
                          <a:latin typeface="微软雅黑"/>
                        </a:rPr>
                        <a:t>不介入既有客户归属，聚焦线索供给和专业支撑</a:t>
                      </a:r>
                    </a:p>
                  </a:txBody>
                  <a:tcPr marL="127000" marR="127000" marT="63500" marB="63500" anchor="ctr">
                    <a:lnL w="6350" cap="flat">
                      <a:solidFill>
                        <a:srgbClr val="FCFBF8"/>
                      </a:solidFill>
                    </a:lnL>
                    <a:lnR w="6350" cap="flat">
                      <a:solidFill>
                        <a:srgbClr val="FCFBF8"/>
                      </a:solidFill>
                    </a:lnR>
                    <a:lnT w="6350" cap="flat">
                      <a:solidFill>
                        <a:srgbClr val="FCFBF8"/>
                      </a:solidFill>
                    </a:lnT>
                    <a:lnB w="6350" cap="flat">
                      <a:solidFill>
                        <a:srgbClr val="FCFBF8"/>
                      </a:solidFill>
                    </a:lnB>
                    <a:solidFill>
                      <a:srgbClr val="E1EDEB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E2A38"/>
                          </a:solidFill>
                          <a:latin typeface="微软雅黑"/>
                        </a:rPr>
                        <a:t>2026 H2 以精细化运行交付为主要评价依据</a:t>
                      </a:r>
                    </a:p>
                  </a:txBody>
                  <a:tcPr marL="127000" marR="127000" marT="63500" marB="63500" anchor="ctr">
                    <a:lnL w="6350" cap="flat">
                      <a:solidFill>
                        <a:srgbClr val="FCFBF8"/>
                      </a:solidFill>
                    </a:lnL>
                    <a:lnR w="6350" cap="flat">
                      <a:solidFill>
                        <a:srgbClr val="FCFBF8"/>
                      </a:solidFill>
                    </a:lnR>
                    <a:lnT w="6350" cap="flat">
                      <a:solidFill>
                        <a:srgbClr val="FCFBF8"/>
                      </a:solidFill>
                    </a:lnT>
                    <a:lnB w="6350" cap="flat">
                      <a:solidFill>
                        <a:srgbClr val="FCFBF8"/>
                      </a:solidFill>
                    </a:lnB>
                    <a:solidFill>
                      <a:srgbClr val="DEE4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E2A38"/>
                          </a:solidFill>
                          <a:latin typeface="微软雅黑"/>
                        </a:rPr>
                        <a:t>月度报告，年底提交运行基线、调优记录和 2027 目标建议</a:t>
                      </a:r>
                    </a:p>
                  </a:txBody>
                  <a:tcPr marL="127000" marR="127000" marT="63500" marB="63500" anchor="ctr">
                    <a:lnL w="6350" cap="flat">
                      <a:solidFill>
                        <a:srgbClr val="FCFBF8"/>
                      </a:solidFill>
                    </a:lnL>
                    <a:lnR w="6350" cap="flat">
                      <a:solidFill>
                        <a:srgbClr val="FCFBF8"/>
                      </a:solidFill>
                    </a:lnR>
                    <a:lnT w="6350" cap="flat">
                      <a:solidFill>
                        <a:srgbClr val="FCFBF8"/>
                      </a:solidFill>
                    </a:lnT>
                    <a:lnB w="6350" cap="flat">
                      <a:solidFill>
                        <a:srgbClr val="FCFBF8"/>
                      </a:solidFill>
                    </a:lnB>
                    <a:solidFill>
                      <a:srgbClr val="E1EDE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12064" y="4261104"/>
            <a:ext cx="1116756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A506B"/>
                </a:solidFill>
                <a:latin typeface="微软雅黑"/>
              </a:rPr>
              <a:t>市场部三项明确承诺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" y="4535424"/>
            <a:ext cx="3600602" cy="512064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3504" y="4663440"/>
            <a:ext cx="256032" cy="256032"/>
          </a:xfrm>
          <a:prstGeom prst="ellipse">
            <a:avLst/>
          </a:prstGeom>
          <a:solidFill>
            <a:srgbClr val="C97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466344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7F5F0"/>
                </a:solidFill>
                <a:latin typeface="Consola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35424"/>
            <a:ext cx="305196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E2A38"/>
                </a:solidFill>
                <a:latin typeface="微软雅黑"/>
              </a:rPr>
              <a:t>不以虚高线索数量代替质量。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5546" y="4535424"/>
            <a:ext cx="3600602" cy="512064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86986" y="4663440"/>
            <a:ext cx="256032" cy="256032"/>
          </a:xfrm>
          <a:prstGeom prst="ellipse">
            <a:avLst/>
          </a:prstGeom>
          <a:solidFill>
            <a:srgbClr val="C97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6986" y="466344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7F5F0"/>
                </a:solidFill>
                <a:latin typeface="Consola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7882" y="4535424"/>
            <a:ext cx="305196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E2A38"/>
                </a:solidFill>
                <a:latin typeface="微软雅黑"/>
              </a:rPr>
              <a:t>不以临时任务多为完成率辩护，所有重要事项进入统一调度。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9029" y="4535424"/>
            <a:ext cx="3600602" cy="512064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0469" y="4663440"/>
            <a:ext cx="256032" cy="256032"/>
          </a:xfrm>
          <a:prstGeom prst="ellipse">
            <a:avLst/>
          </a:prstGeom>
          <a:solidFill>
            <a:srgbClr val="C97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0469" y="466344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7F5F0"/>
                </a:solidFill>
                <a:latin typeface="Consola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1365" y="4535424"/>
            <a:ext cx="305196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E2A38"/>
                </a:solidFill>
                <a:latin typeface="微软雅黑"/>
              </a:rPr>
              <a:t>不只报告问题，每次复盘必须形成责任、动作和规则调整。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" y="5193792"/>
            <a:ext cx="11167567" cy="457200"/>
          </a:xfrm>
          <a:prstGeom prst="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93792"/>
            <a:ext cx="1072865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7F5F0"/>
                </a:solidFill>
                <a:latin typeface="微软雅黑"/>
              </a:rPr>
              <a:t>上半年让问题变得可见，下半年让改进变得可验证。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5760720"/>
            <a:ext cx="36006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6070"/>
                </a:solidFill>
                <a:latin typeface="Consolas"/>
              </a:rPr>
              <a:t>责任主体：___________________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5546" y="5760720"/>
            <a:ext cx="36006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6070"/>
                </a:solidFill>
                <a:latin typeface="Consolas"/>
              </a:rPr>
              <a:t>完成时间：___________________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9029" y="5760720"/>
            <a:ext cx="36006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6070"/>
                </a:solidFill>
                <a:latin typeface="Consolas"/>
              </a:rPr>
              <a:t>验证方式：___________________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12064" y="6528816"/>
            <a:ext cx="11167567" cy="0"/>
          </a:xfrm>
          <a:prstGeom prst="line">
            <a:avLst/>
          </a:prstGeom>
          <a:ln w="9525">
            <a:solidFill>
              <a:srgbClr val="DFD9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12064" y="657453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遨海科技市场部 · 2026 年半年工作总结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82351" y="657453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78F98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